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324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00" b="1">
                <a:solidFill>
                  <a:srgbClr val="21213B"/>
                </a:solidFill>
                <a:latin typeface="Calibri"/>
              </a:rPr>
              <a:t>Query time before vs. after indexing (ms)</a:t>
            </a:r>
          </a:p>
        </c:rich>
      </c:tx>
      <c:layout>
        <c:manualLayout>
          <c:xMode val="edge"/>
          <c:yMode val="edge"/>
          <c:x val="9.0594059405940591E-2"/>
          <c:y val="4.985757781904223E-2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DuckDB</c:v>
                </c:pt>
              </c:strCache>
            </c:strRef>
          </c:tx>
          <c:spPr>
            <a:solidFill>
              <a:srgbClr val="D96C4F"/>
            </a:solidFill>
          </c:spPr>
          <c:invertIfNegative val="1"/>
          <c:dLbls>
            <c:dLbl>
              <c:idx val="1"/>
              <c:layout>
                <c:manualLayout>
                  <c:x val="-1.4556049098585174E-2"/>
                  <c:y val="-7.122511117006033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286-4D40-9A01-11EB46092ECD}"/>
                </c:ext>
              </c:extLst>
            </c:dLbl>
            <c:dLbl>
              <c:idx val="3"/>
              <c:layout>
                <c:manualLayout>
                  <c:x val="-1.2376237623762377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86-4D40-9A01-11EB46092ECD}"/>
                </c:ext>
              </c:extLst>
            </c:dLbl>
            <c:numFmt formatCode="0.0&quot;ms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21213B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Original</c:v>
                </c:pt>
                <c:pt idx="1">
                  <c:v>Rewritten (CTE)</c:v>
                </c:pt>
                <c:pt idx="2">
                  <c:v>Indexed</c:v>
                </c:pt>
                <c:pt idx="3">
                  <c:v>Indexed (amount)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7.4</c:v>
                </c:pt>
                <c:pt idx="1">
                  <c:v>6.9</c:v>
                </c:pt>
                <c:pt idx="2">
                  <c:v>6.8</c:v>
                </c:pt>
                <c:pt idx="3">
                  <c:v>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1A7-42D5-89BA-F3184D04A9D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PostgreSQL</c:v>
                </c:pt>
              </c:strCache>
            </c:strRef>
          </c:tx>
          <c:spPr>
            <a:solidFill>
              <a:srgbClr val="21213B"/>
            </a:solidFill>
          </c:spPr>
          <c:invertIfNegative val="1"/>
          <c:dLbls>
            <c:dLbl>
              <c:idx val="1"/>
              <c:layout>
                <c:manualLayout>
                  <c:x val="4.7307159570401637E-2"/>
                  <c:y val="-3.2644465507959773E-17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286-4D40-9A01-11EB46092ECD}"/>
                </c:ext>
              </c:extLst>
            </c:dLbl>
            <c:dLbl>
              <c:idx val="2"/>
              <c:layout>
                <c:manualLayout>
                  <c:x val="4.0029135021109004E-2"/>
                  <c:y val="1.4245022234012066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B286-4D40-9A01-11EB46092ECD}"/>
                </c:ext>
              </c:extLst>
            </c:dLbl>
            <c:dLbl>
              <c:idx val="3"/>
              <c:layout>
                <c:manualLayout>
                  <c:x val="3.6408174539636295E-2"/>
                  <c:y val="-2.849004446802413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286-4D40-9A01-11EB46092ECD}"/>
                </c:ext>
              </c:extLst>
            </c:dLbl>
            <c:numFmt formatCode="0.0&quot;ms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21213B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Original</c:v>
                </c:pt>
                <c:pt idx="1">
                  <c:v>Rewritten (CTE)</c:v>
                </c:pt>
                <c:pt idx="2">
                  <c:v>Indexed</c:v>
                </c:pt>
                <c:pt idx="3">
                  <c:v>Indexed (amount)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12.73</c:v>
                </c:pt>
                <c:pt idx="1">
                  <c:v>10.99</c:v>
                </c:pt>
                <c:pt idx="2">
                  <c:v>7.5</c:v>
                </c:pt>
                <c:pt idx="3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1A7-42D5-89BA-F3184D04A9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latin typeface="Calibri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CFD1FB-4379-4A8D-A202-85C00A508389}" type="datetimeFigureOut">
              <a:rPr lang="en-AE" smtClean="0"/>
              <a:t>16/09/2026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6DBD00-9A11-4028-B4BF-8C696EEEF8B4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51872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02 SQL &amp; Visualization (4/4)</a:t>
            </a:r>
          </a:p>
          <a:p>
            <a:r>
              <a:rPr dirty="0"/>
              <a:t>•  Task 2.1 — SQL: Answer six business questions</a:t>
            </a:r>
          </a:p>
          <a:p>
            <a:r>
              <a:rPr dirty="0"/>
              <a:t>•  Task 2.2 — ETL Pipeline: Ingest, transform, and load</a:t>
            </a:r>
          </a:p>
          <a:p>
            <a:r>
              <a:rPr dirty="0"/>
              <a:t>•  Task 2.3 — Query </a:t>
            </a:r>
            <a:r>
              <a:rPr dirty="0" err="1"/>
              <a:t>Optimisation</a:t>
            </a:r>
            <a:endParaRPr dirty="0"/>
          </a:p>
          <a:p>
            <a:r>
              <a:rPr dirty="0"/>
              <a:t>•  Task 2.4 — Dashboard Design</a:t>
            </a:r>
          </a:p>
          <a:p>
            <a:endParaRPr dirty="0"/>
          </a:p>
          <a:p>
            <a:r>
              <a:rPr dirty="0"/>
              <a:t>03 Big Data Processing (3/3)</a:t>
            </a:r>
          </a:p>
          <a:p>
            <a:r>
              <a:rPr dirty="0"/>
              <a:t>•  Task 3.1 — Apache Spark: Process events at scale</a:t>
            </a:r>
          </a:p>
          <a:p>
            <a:r>
              <a:rPr dirty="0"/>
              <a:t>•  Task 3.2 — Apache Kafka: Real-time streaming</a:t>
            </a:r>
          </a:p>
          <a:p>
            <a:r>
              <a:rPr dirty="0"/>
              <a:t>•  Task 3.3 — Apache Airflow: Orchestrate the pipeline</a:t>
            </a:r>
          </a:p>
          <a:p>
            <a:endParaRPr dirty="0"/>
          </a:p>
          <a:p>
            <a:r>
              <a:rPr dirty="0"/>
              <a:t>04 Infrastructure &amp; Governance (3/3)</a:t>
            </a:r>
          </a:p>
          <a:p>
            <a:r>
              <a:rPr dirty="0"/>
              <a:t>•  Task 4.1 — Docker: </a:t>
            </a:r>
            <a:r>
              <a:rPr dirty="0" err="1"/>
              <a:t>Containerise</a:t>
            </a:r>
            <a:r>
              <a:rPr dirty="0"/>
              <a:t> the ETL pipeline</a:t>
            </a:r>
          </a:p>
          <a:p>
            <a:r>
              <a:rPr dirty="0"/>
              <a:t>•  Task 4.2 — Data Governance Document</a:t>
            </a:r>
          </a:p>
          <a:p>
            <a:r>
              <a:rPr dirty="0"/>
              <a:t>•  Task 4.3 — Data Quality 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778240" y="-2103120"/>
            <a:ext cx="5943600" cy="5943600"/>
          </a:xfrm>
          <a:prstGeom prst="ellipse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4206240"/>
            <a:ext cx="3840480" cy="3840480"/>
          </a:xfrm>
          <a:prstGeom prst="ellipse">
            <a:avLst/>
          </a:prstGeom>
          <a:solidFill>
            <a:srgbClr val="35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PRESIGHT ANALYTICS PLATFORM — DATA ENGINEERING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96012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Building a Production-Grade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Data Platform,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F2CC8F"/>
                </a:solidFill>
                <a:latin typeface="Calibri"/>
              </a:rPr>
              <a:t>From scattered CSV/JSON exports to a warehouse with history tracking, a Spark + Kafka + Airflow layer underneath, and a well-documented, containerized pipeline.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806440"/>
            <a:ext cx="502920" cy="36576"/>
          </a:xfrm>
          <a:prstGeom prst="rect">
            <a:avLst/>
          </a:prstGeom>
          <a:solidFill>
            <a:srgbClr val="81B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Baiju Mohan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636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9A97B5"/>
                </a:solidFill>
                <a:latin typeface="Calibri"/>
              </a:rPr>
              <a:t>Foundations  ·  SQL &amp; Visualization  ·  Big Data  ·  Infrastructure &amp; Governance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1213B"/>
                </a:solidFill>
                <a:latin typeface="Cambria"/>
              </a:rPr>
              <a:t>Four Pillars, One Working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2480310" cy="416052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41247" y="2167128"/>
            <a:ext cx="457200" cy="45720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21671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43200"/>
            <a:ext cx="207797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21213B"/>
                </a:solidFill>
                <a:latin typeface="Cambria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7797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Pandas cleaning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Star-schema design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SCD Type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7" y="4297679"/>
            <a:ext cx="2077974" cy="18288"/>
          </a:xfrm>
          <a:prstGeom prst="rect">
            <a:avLst/>
          </a:prstGeom>
          <a:solidFill>
            <a:srgbClr val="D96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4416552"/>
            <a:ext cx="207797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D96C4F"/>
                </a:solidFill>
                <a:latin typeface="Calibri"/>
              </a:rPr>
              <a:t>READS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709160"/>
            <a:ext cx="2077974" cy="1234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21213B"/>
                </a:solidFill>
                <a:latin typeface="Calibri"/>
              </a:rPr>
              <a:t>projects.csv (CSV) — 500 rows, 55 KB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21213B"/>
                </a:solidFill>
                <a:latin typeface="Calibri"/>
              </a:rPr>
              <a:t>employees.csv (CSV) — 1,000 rows, 120 KB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21213B"/>
                </a:solidFill>
                <a:latin typeface="Calibri"/>
              </a:rPr>
              <a:t>employees_salary_history.csv (CSV) — 1,826 rows, 185 KB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8989" y="1965960"/>
            <a:ext cx="2480310" cy="416052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550158" y="2167128"/>
            <a:ext cx="457200" cy="45720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50158" y="21671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0158" y="2743200"/>
            <a:ext cx="207797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21213B"/>
                </a:solidFill>
                <a:latin typeface="Cambria"/>
              </a:rPr>
              <a:t>SQL &amp; Visualization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0158" y="3383280"/>
            <a:ext cx="207797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Six business queries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Query optimisation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Live Power BI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50158" y="4297679"/>
            <a:ext cx="2077974" cy="18288"/>
          </a:xfrm>
          <a:prstGeom prst="rect">
            <a:avLst/>
          </a:prstGeom>
          <a:solidFill>
            <a:srgbClr val="D96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50158" y="4416552"/>
            <a:ext cx="207797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D96C4F"/>
                </a:solidFill>
                <a:latin typeface="Calibri"/>
              </a:rPr>
              <a:t>READS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158" y="4709160"/>
            <a:ext cx="2077974" cy="1234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21213B"/>
                </a:solidFill>
                <a:latin typeface="Calibri"/>
              </a:rPr>
              <a:t>Reuses Pillar 1's clean projects + employees output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21213B"/>
                </a:solidFill>
                <a:latin typeface="Calibri"/>
              </a:rPr>
              <a:t>transactions.json (JSON) — 50,000 rows, 18.7 MB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80310" cy="416052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59068" y="2167128"/>
            <a:ext cx="457200" cy="45720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59068" y="21671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2743200"/>
            <a:ext cx="207797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21213B"/>
                </a:solidFill>
                <a:latin typeface="Cambria"/>
              </a:rPr>
              <a:t>Big Data Processing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3383280"/>
            <a:ext cx="207797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PySpark batch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Kafka streaming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Airflow + DQ gate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59068" y="4297679"/>
            <a:ext cx="2077974" cy="18288"/>
          </a:xfrm>
          <a:prstGeom prst="rect">
            <a:avLst/>
          </a:prstGeom>
          <a:solidFill>
            <a:srgbClr val="D96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59068" y="4416552"/>
            <a:ext cx="207797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D96C4F"/>
                </a:solidFill>
                <a:latin typeface="Calibri"/>
              </a:rPr>
              <a:t>READS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4709160"/>
            <a:ext cx="2077974" cy="1234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21213B"/>
                </a:solidFill>
                <a:latin typeface="Calibri"/>
              </a:rPr>
              <a:t>events_stream/*.jsonl (JSONL) — 12 monthly files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21213B"/>
                </a:solidFill>
                <a:latin typeface="Calibri"/>
              </a:rPr>
              <a:t>99,996 events, 20 MB raw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66810" y="1965960"/>
            <a:ext cx="2480310" cy="416052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967978" y="2167128"/>
            <a:ext cx="457200" cy="45720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7978" y="21671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7978" y="2743200"/>
            <a:ext cx="207797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21213B"/>
                </a:solidFill>
                <a:latin typeface="Cambria"/>
              </a:rPr>
              <a:t>Infrastructure &amp; Governance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7978" y="3383280"/>
            <a:ext cx="207797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Multi-stage Docker build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Governance doc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•  Configurable DQ framework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7978" y="4297679"/>
            <a:ext cx="2077974" cy="18288"/>
          </a:xfrm>
          <a:prstGeom prst="rect">
            <a:avLst/>
          </a:prstGeom>
          <a:solidFill>
            <a:srgbClr val="D96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967978" y="4416552"/>
            <a:ext cx="207797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D96C4F"/>
                </a:solidFill>
                <a:latin typeface="Calibri"/>
              </a:rPr>
              <a:t>READS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7978" y="4709160"/>
            <a:ext cx="2077974" cy="1234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21213B"/>
                </a:solidFill>
                <a:latin typeface="Calibri"/>
              </a:rPr>
              <a:t>No new raw data — containerises Pillar 2's ETL, reading the exact same files it already reads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18520" y="63093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1213B"/>
                </a:solidFill>
                <a:latin typeface="Cambria"/>
              </a:rPr>
              <a:t>One Flow, Six Technologies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3261360" cy="178308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4671" y="2313432"/>
            <a:ext cx="384048" cy="384048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1" y="23134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313432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1213B"/>
                </a:solidFill>
                <a:latin typeface="Cambria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606040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D96C4F"/>
                </a:solidFill>
                <a:latin typeface="Calibri"/>
              </a:rPr>
              <a:t>Pandas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" y="2990088"/>
            <a:ext cx="2932176" cy="13716"/>
          </a:xfrm>
          <a:prstGeom prst="rect">
            <a:avLst/>
          </a:prstGeom>
          <a:solidFill>
            <a:srgbClr val="9A9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" y="3108960"/>
            <a:ext cx="293217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Profiles every row, not just the first 40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Fixes missing values, bad dates, salary outliers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1440" y="2148840"/>
            <a:ext cx="41148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6B6880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920" y="2148840"/>
            <a:ext cx="3261360" cy="178308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77512" y="2313432"/>
            <a:ext cx="384048" cy="384048"/>
          </a:xfrm>
          <a:prstGeom prst="rect">
            <a:avLst/>
          </a:prstGeom>
          <a:solidFill>
            <a:srgbClr val="D96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77512" y="23134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1288" y="2313432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1213B"/>
                </a:solidFill>
                <a:latin typeface="Cambria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1288" y="2606040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D96C4F"/>
                </a:solidFill>
                <a:latin typeface="Calibri"/>
              </a:rPr>
              <a:t>DuckDB · PostgreSQL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77512" y="2990088"/>
            <a:ext cx="2932176" cy="13716"/>
          </a:xfrm>
          <a:prstGeom prst="rect">
            <a:avLst/>
          </a:prstGeom>
          <a:solidFill>
            <a:srgbClr val="9A9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77512" y="3108960"/>
            <a:ext cx="293217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DuckDB: the warehouse — star schema + SCD Type 2 history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PostgreSQL: benchmarks indexing for real — DuckDB showed no speedup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4280" y="2148840"/>
            <a:ext cx="41148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6B6880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85760" y="2148840"/>
            <a:ext cx="3261360" cy="178308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50352" y="2313432"/>
            <a:ext cx="384048" cy="384048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50352" y="231343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4128" y="2313432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1213B"/>
                </a:solidFill>
                <a:latin typeface="Cambria"/>
              </a:rPr>
              <a:t>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4128" y="2606040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D96C4F"/>
                </a:solidFill>
                <a:latin typeface="Calibri"/>
              </a:rPr>
              <a:t>PySpark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50352" y="2990088"/>
            <a:ext cx="2932176" cy="13716"/>
          </a:xfrm>
          <a:prstGeom prst="rect">
            <a:avLst/>
          </a:prstGeom>
          <a:solidFill>
            <a:srgbClr val="9A9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50352" y="3108960"/>
            <a:ext cx="293217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Distributed processing for 100K+ events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Aggregates into 5 partitioned summary tables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7840" y="3931920"/>
            <a:ext cx="457200" cy="6857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B6880"/>
                </a:solidFill>
                <a:latin typeface="Calibri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617720"/>
            <a:ext cx="3261360" cy="178308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4671" y="4782312"/>
            <a:ext cx="384048" cy="384048"/>
          </a:xfrm>
          <a:prstGeom prst="rect">
            <a:avLst/>
          </a:prstGeom>
          <a:solidFill>
            <a:srgbClr val="D96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1" y="478231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8448" y="4782312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1213B"/>
                </a:solidFill>
                <a:latin typeface="Cambria"/>
              </a:rPr>
              <a:t>Ship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5074920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D96C4F"/>
                </a:solidFill>
                <a:latin typeface="Calibri"/>
              </a:rPr>
              <a:t>Docker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" y="5458968"/>
            <a:ext cx="2932176" cy="13716"/>
          </a:xfrm>
          <a:prstGeom prst="rect">
            <a:avLst/>
          </a:prstGeom>
          <a:solidFill>
            <a:srgbClr val="9A9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4671" y="5577840"/>
            <a:ext cx="293217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Packages the pipeline into one portable image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Runs the same way on any machine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01440" y="4617720"/>
            <a:ext cx="41148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6B6880"/>
                </a:solidFill>
                <a:latin typeface="Calibri"/>
              </a:rPr>
              <a:t>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12920" y="4617720"/>
            <a:ext cx="3261360" cy="178308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477512" y="4782312"/>
            <a:ext cx="384048" cy="384048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77512" y="478231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71288" y="4782312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1213B"/>
                </a:solidFill>
                <a:latin typeface="Cambria"/>
              </a:rPr>
              <a:t>Orchestrate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71288" y="5074920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D96C4F"/>
                </a:solidFill>
                <a:latin typeface="Calibri"/>
              </a:rPr>
              <a:t>Airflow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77512" y="5458968"/>
            <a:ext cx="2932176" cy="13716"/>
          </a:xfrm>
          <a:prstGeom prst="rect">
            <a:avLst/>
          </a:prstGeom>
          <a:solidFill>
            <a:srgbClr val="9A9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477512" y="5577840"/>
            <a:ext cx="293217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Runs the pipeline on a daily schedule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DQ gate blocks bad data before it moves 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4280" y="4617720"/>
            <a:ext cx="41148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6B6880"/>
                </a:solidFill>
                <a:latin typeface="Calibri"/>
              </a:rPr>
              <a:t>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85760" y="4617720"/>
            <a:ext cx="3261360" cy="178308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150352" y="4782312"/>
            <a:ext cx="384048" cy="384048"/>
          </a:xfrm>
          <a:prstGeom prst="rect">
            <a:avLst/>
          </a:prstGeom>
          <a:solidFill>
            <a:srgbClr val="D96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150352" y="478231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KA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4128" y="4782312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1213B"/>
                </a:solidFill>
                <a:latin typeface="Cambria"/>
              </a:rPr>
              <a:t>Stream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4128" y="5074920"/>
            <a:ext cx="243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D96C4F"/>
                </a:solidFill>
                <a:latin typeface="Calibri"/>
              </a:rPr>
              <a:t>Kafka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50352" y="5458968"/>
            <a:ext cx="2932176" cy="13716"/>
          </a:xfrm>
          <a:prstGeom prst="rect">
            <a:avLst/>
          </a:prstGeom>
          <a:solidFill>
            <a:srgbClr val="9A9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150352" y="5577840"/>
            <a:ext cx="2932176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Simulates real-time event ingestion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B6880"/>
                </a:solidFill>
                <a:latin typeface="Calibri"/>
              </a:rPr>
              <a:t>•  Routes critical escalations to their own topic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18520" y="63093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36576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0" b="1">
                <a:solidFill>
                  <a:srgbClr val="2C2C54"/>
                </a:solidFill>
                <a:latin typeface="Cambria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463040" cy="45720"/>
          </a:xfrm>
          <a:prstGeom prst="rect">
            <a:avLst/>
          </a:prstGeom>
          <a:solidFill>
            <a:srgbClr val="D96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STAGE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86868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Foundations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3192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2CC8F"/>
                </a:solidFill>
                <a:latin typeface="Calibri"/>
              </a:rPr>
              <a:t>Python &amp; Pandas · Data Modelling · SCD Type 2 · Data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1596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A97B5"/>
                </a:solidFill>
                <a:latin typeface="Calibri"/>
              </a:rPr>
              <a:t>Input: datasets/  →  Output: outputs/results/baiju_mohan/01_foundations/  ·  Live walkthrough: 01_foundations/foundations_explorer.ipynb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12064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Read and clean projects.csv, employees.csv, and employees_salary_history.csv, then build a warehouse with real history tracking.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Catch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512064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Checked every row, not just the first 40. Found real issues in both files that way — full detail on the next slide.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59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59" y="512064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A star schema data model, with a SCD Type 2 table tracking employee history.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63093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A97B5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PILLAR 01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1213B"/>
                </a:solidFill>
                <a:latin typeface="Cambria"/>
              </a:rPr>
              <a:t>Cleaning, Enrichment, and the SCD2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Projects — Cleaned &amp; Enriched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895600" cy="2743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Filled missing budget/actual_cost with 0 before calculating anything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Added 6 columns: budget_variance, is_over_budget, duration_days, budget_utilisation_pct, status_category, risk_level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Split risk_level evenly — 188 High, 145 Medium, 167 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67199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95799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5799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5880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Employees — Issues Found &amp; Fixed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799" y="3246120"/>
            <a:ext cx="2895600" cy="2743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Replaced 10 blank emails with a placeholder, not a guess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Nulled 8 broken hire dates instead of guessing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Set 5 odd experience values to their level's median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Capped 3 salaries that broke their level's band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4320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22920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22920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2999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SCD2 Table — Issues Found &amp; 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2920" y="3246120"/>
            <a:ext cx="2895600" cy="2743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Collapsed EMP0084's same-day duplicate into one final version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Trusted current data over conflicting salary history for EMP0356 and EMP0900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Gave 8 employees with no history a placeholder start date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2,231 rows: 1,000 current + 1,231 historical versions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0 duplicates, 0 overlaps, 0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18520" y="63093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36576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0" b="1">
                <a:solidFill>
                  <a:srgbClr val="2C2C54"/>
                </a:solidFill>
                <a:latin typeface="Cambria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463040" cy="45720"/>
          </a:xfrm>
          <a:prstGeom prst="rect">
            <a:avLst/>
          </a:prstGeom>
          <a:solidFill>
            <a:srgbClr val="D96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STAGE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86868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SQL &amp; Data Visualization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3192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2CC8F"/>
                </a:solidFill>
                <a:latin typeface="Calibri"/>
              </a:rPr>
              <a:t>Business Intelligence · Query Optimisation · Power BI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12064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•  Answer six business questions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•  ETL (Clean and load 50,000 transactions)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•  Optimize one slow query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•  Build a live dashboard on top of it 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Catch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39" y="5120640"/>
            <a:ext cx="3063239" cy="8124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dirty="0">
                <a:solidFill>
                  <a:srgbClr val="F2CC8F"/>
                </a:solidFill>
                <a:latin typeface="Calibri"/>
              </a:rPr>
              <a:t>•  Two questions come back empty — checked the data first, not a bug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dirty="0">
                <a:solidFill>
                  <a:srgbClr val="F2CC8F"/>
                </a:solidFill>
                <a:latin typeface="Calibri"/>
              </a:rPr>
              <a:t>•  </a:t>
            </a:r>
            <a:r>
              <a:rPr sz="1100" b="0" dirty="0" err="1">
                <a:solidFill>
                  <a:srgbClr val="F2CC8F"/>
                </a:solidFill>
                <a:latin typeface="Calibri"/>
              </a:rPr>
              <a:t>DuckDB</a:t>
            </a:r>
            <a:r>
              <a:rPr sz="1100" b="0" dirty="0">
                <a:solidFill>
                  <a:srgbClr val="F2CC8F"/>
                </a:solidFill>
                <a:latin typeface="Calibri"/>
              </a:rPr>
              <a:t> showed zero speedup on the optimization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dirty="0">
                <a:solidFill>
                  <a:srgbClr val="F2CC8F"/>
                </a:solidFill>
                <a:latin typeface="Calibri"/>
              </a:rPr>
              <a:t>•  Re-ran the same test for real on PostgreSQL instead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59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59" y="512064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•  A real ~2x speedup on Postgres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•  A Power BI dashboard running on live DAX, not a static 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3093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A97B5"/>
                </a:solidFill>
                <a:latin typeface="Calibri"/>
              </a:rPr>
              <a:t>06</a:t>
            </a:r>
          </a:p>
        </p:txBody>
      </p:sp>
      <p:sp>
        <p:nvSpPr>
          <p:cNvPr id="18" name="TextBox 7"/>
          <p:cNvSpPr txBox="1"/>
          <p:nvPr/>
        </p:nvSpPr>
        <p:spPr>
          <a:xfrm>
            <a:off x="777240" y="431596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A97B5"/>
                </a:solidFill>
                <a:latin typeface="Calibri"/>
              </a:rPr>
              <a:t>Input: datasets/  →  Output: outputs/results/baiju_mohan/02_sql_and_viz/  ·  Live walkthrough: 02_sql_and_viz/warehouse_explorer.ipynb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4196" y="-45720"/>
            <a:ext cx="12280392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PILLAR 02 · SQL &amp;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1213B"/>
                </a:solidFill>
                <a:latin typeface="Cambria"/>
              </a:rPr>
              <a:t>Business Answers, a Fast Pipeline, a Live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Business Queries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895600" cy="25035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•  6 questions, 6 answers </a:t>
            </a:r>
            <a:r>
              <a:rPr lang="en-US" sz="1150" b="0" dirty="0">
                <a:solidFill>
                  <a:srgbClr val="21213B"/>
                </a:solidFill>
                <a:latin typeface="Calibri"/>
              </a:rPr>
              <a:t>-</a:t>
            </a:r>
            <a:r>
              <a:rPr sz="1150" b="0" dirty="0">
                <a:solidFill>
                  <a:srgbClr val="21213B"/>
                </a:solidFill>
                <a:latin typeface="Calibri"/>
              </a:rPr>
              <a:t> 2 </a:t>
            </a:r>
            <a:r>
              <a:rPr lang="en-US" sz="1150" b="0" dirty="0">
                <a:solidFill>
                  <a:srgbClr val="21213B"/>
                </a:solidFill>
                <a:latin typeface="Calibri"/>
              </a:rPr>
              <a:t> (Q2  &amp; </a:t>
            </a:r>
            <a:r>
              <a:rPr lang="en-US" sz="1150" dirty="0">
                <a:solidFill>
                  <a:srgbClr val="21213B"/>
                </a:solidFill>
                <a:latin typeface="Calibri"/>
              </a:rPr>
              <a:t>Q3 ) </a:t>
            </a:r>
            <a:r>
              <a:rPr sz="1150" b="0" dirty="0">
                <a:solidFill>
                  <a:srgbClr val="21213B"/>
                </a:solidFill>
                <a:latin typeface="Calibri"/>
              </a:rPr>
              <a:t>come back empty, checked against the real distribution first, not just assumed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•  Writing Q2 turned up a real bug: two employees both named Hassan Hamdan — grouped by full_name alone would have merged them, added email to disambiguate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•  Full 50,000-row ETL: 0.97 seconds (target: 30s)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•  Output: transactions_clean.csv, 9.8 MB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67199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95799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5799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5880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Query Optimisation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799" y="3200400"/>
            <a:ext cx="28956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00" b="0" dirty="0">
                <a:solidFill>
                  <a:srgbClr val="21213B"/>
                </a:solidFill>
                <a:latin typeface="Calibri"/>
              </a:rPr>
              <a:t>•  Same query, run on two engines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00" b="0" dirty="0">
                <a:solidFill>
                  <a:srgbClr val="21213B"/>
                </a:solidFill>
                <a:latin typeface="Calibri"/>
              </a:rPr>
              <a:t>•  </a:t>
            </a:r>
            <a:r>
              <a:rPr sz="1100" b="0" dirty="0" err="1">
                <a:solidFill>
                  <a:srgbClr val="21213B"/>
                </a:solidFill>
                <a:latin typeface="Calibri"/>
              </a:rPr>
              <a:t>DuckDB</a:t>
            </a:r>
            <a:r>
              <a:rPr sz="1100" b="0" dirty="0">
                <a:solidFill>
                  <a:srgbClr val="21213B"/>
                </a:solidFill>
                <a:latin typeface="Calibri"/>
              </a:rPr>
              <a:t>: flat ~7ms at every stage — rewrite and index add nothing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00" b="0" dirty="0">
                <a:solidFill>
                  <a:srgbClr val="21213B"/>
                </a:solidFill>
                <a:latin typeface="Calibri"/>
              </a:rPr>
              <a:t>•  Postgres: 12.73ms → 10.99ms (CTE) → 7.50ms (indexed) → 5.0ms (indexed on amount) — 2.5x total, Index Only Scan removes the last filter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101466"/>
              </p:ext>
            </p:extLst>
          </p:nvPr>
        </p:nvGraphicFramePr>
        <p:xfrm>
          <a:off x="4404360" y="4251960"/>
          <a:ext cx="3489958" cy="17830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6" name="Rectangle 15"/>
          <p:cNvSpPr/>
          <p:nvPr/>
        </p:nvSpPr>
        <p:spPr>
          <a:xfrm>
            <a:off x="7894320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22920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2920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2999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Power BI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2920" y="3246120"/>
            <a:ext cx="2895600" cy="1413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•  </a:t>
            </a:r>
            <a:r>
              <a:rPr lang="en-US" sz="1150" b="0" dirty="0">
                <a:solidFill>
                  <a:srgbClr val="21213B"/>
                </a:solidFill>
                <a:latin typeface="Calibri"/>
              </a:rPr>
              <a:t>8</a:t>
            </a:r>
            <a:r>
              <a:rPr sz="1150" b="0" dirty="0">
                <a:solidFill>
                  <a:srgbClr val="21213B"/>
                </a:solidFill>
                <a:latin typeface="Calibri"/>
              </a:rPr>
              <a:t> visuals — KPIs, dept. spend, monthly trend, top-10 variance, vendor donut — plus </a:t>
            </a:r>
            <a:r>
              <a:rPr lang="en-US" sz="1150" b="0" dirty="0">
                <a:solidFill>
                  <a:srgbClr val="21213B"/>
                </a:solidFill>
                <a:latin typeface="Calibri"/>
              </a:rPr>
              <a:t>4</a:t>
            </a:r>
            <a:r>
              <a:rPr sz="1150" b="0" dirty="0">
                <a:solidFill>
                  <a:srgbClr val="21213B"/>
                </a:solidFill>
                <a:latin typeface="Calibri"/>
              </a:rPr>
              <a:t> slicers to filter by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•  Live DAX measures wired straight to the cleaned CSVs, so the numbers can't drift from a stale static extract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18520" y="63093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36576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0" b="1">
                <a:solidFill>
                  <a:srgbClr val="2C2C54"/>
                </a:solidFill>
                <a:latin typeface="Cambria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463040" cy="45720"/>
          </a:xfrm>
          <a:prstGeom prst="rect">
            <a:avLst/>
          </a:prstGeom>
          <a:solidFill>
            <a:srgbClr val="D96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STAGE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86868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Big Data 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3192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2CC8F"/>
                </a:solidFill>
                <a:latin typeface="Calibri"/>
              </a:rPr>
              <a:t>PySpark · Apache Kafka · Apache Airflow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12064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~100K events. Process them in batch, stream them live, then put the whole thing on a schedule.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Catch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512064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•  Escalations matched by list position, not time — got -7,708 hour resolutions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•  Docker access for Kafka + Airflow arrived mid-assessment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59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59" y="512064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Real runs, all three: Spark, Kafka, Airflow. Even proved the DQ gate actually blocks bad data — didn't just read the code and assume.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3093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A97B5"/>
                </a:solidFill>
                <a:latin typeface="Calibri"/>
              </a:rPr>
              <a:t>08</a:t>
            </a:r>
          </a:p>
        </p:txBody>
      </p:sp>
      <p:sp>
        <p:nvSpPr>
          <p:cNvPr id="18" name="TextBox 7"/>
          <p:cNvSpPr txBox="1"/>
          <p:nvPr/>
        </p:nvSpPr>
        <p:spPr>
          <a:xfrm>
            <a:off x="777240" y="431596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A97B5"/>
                </a:solidFill>
                <a:latin typeface="Calibri"/>
              </a:rPr>
              <a:t>Input: datasets/events_stream/*.jsonl (12 files)  →  Output: outputs/artifacts/baiju_mohan/03_big_data/spark/  ·  Live walkthrough: 03_big_data/big_data_explorer.ipynb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PILLAR 03 · BIG DATA 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1213B"/>
                </a:solidFill>
                <a:latin typeface="Cambria"/>
              </a:rPr>
              <a:t>Spark, Kafka, and Airflow — All Verified for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Spark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895600" cy="2743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99,996 events, 12 monthly files, 20 MB raw → 5 Parquet tables, explicit schema, partitioned exactly per spec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373 Snappy-compressed part files, ~2.1 MB total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escalation_log matches raised/resolved events by time, not list order — caught it after spotting impossible negative durations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No shared key links a resolution to its raise — matched by project + timestamp instead: each resolution claims the oldest still-open raise at or before its time, so resolution_time_hours is never negative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67199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95799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5799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5880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Kafka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799" y="3246120"/>
            <a:ext cx="2895600" cy="2743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8,333 sent, 8,333 received — nothing lost, verified against real Docker Kafka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14 critical escalations forwarded, 539-611 messages a second on the consumer side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Ran the full pipeline end-to-end — no double-encoding or data-loss bugs found, only benign client library deprecation warnings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4320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22920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22920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2999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Airflow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2920" y="3246120"/>
            <a:ext cx="2895600" cy="2743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DQ-gated DAG: 3 parallel extract tasks → quality gate → transform → load → report, deployed on Docker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Triggered a real run, end to end, no shortcuts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21213B"/>
                </a:solidFill>
                <a:latin typeface="Calibri"/>
              </a:rPr>
              <a:t>•  DQ results: projects 6/9, employees 3/9, transactions 5/9 checks 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18520" y="63093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36576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0" b="1">
                <a:solidFill>
                  <a:srgbClr val="2C2C54"/>
                </a:solidFill>
                <a:latin typeface="Cambria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463040" cy="45720"/>
          </a:xfrm>
          <a:prstGeom prst="rect">
            <a:avLst/>
          </a:prstGeom>
          <a:solidFill>
            <a:srgbClr val="D96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STAGE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86868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Infrastructure &amp;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31920"/>
            <a:ext cx="868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2CC8F"/>
                </a:solidFill>
                <a:latin typeface="Calibri"/>
              </a:rPr>
              <a:t>Docker · Data Governance · Quality Framework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12064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Put the pipeline in a container. Write the governance doc. Build a DQ framework that's actually reusable.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Catch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5120640"/>
            <a:ext cx="2880360" cy="5493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 dirty="0">
                <a:solidFill>
                  <a:srgbClr val="F2CC8F"/>
                </a:solidFill>
                <a:latin typeface="Calibri"/>
              </a:rPr>
              <a:t>Both UAE PDPL and GDPR apply here. And salary history needs its own retention rule </a:t>
            </a:r>
            <a:r>
              <a:rPr lang="en-US" sz="1100" b="0" dirty="0">
                <a:solidFill>
                  <a:srgbClr val="F2CC8F"/>
                </a:solidFill>
                <a:latin typeface="Calibri"/>
              </a:rPr>
              <a:t>-</a:t>
            </a:r>
            <a:r>
              <a:rPr sz="1100" b="0" dirty="0">
                <a:solidFill>
                  <a:srgbClr val="F2CC8F"/>
                </a:solidFill>
                <a:latin typeface="Calibri"/>
              </a:rPr>
              <a:t> longer than a regular employee record, justified on its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4617720"/>
            <a:ext cx="3246120" cy="1463040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59" y="47548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81B29A"/>
                </a:solidFill>
                <a:latin typeface="Calibri"/>
              </a:rPr>
              <a:t>The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59" y="512064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0">
                <a:solidFill>
                  <a:srgbClr val="F2CC8F"/>
                </a:solidFill>
                <a:latin typeface="Calibri"/>
              </a:rPr>
              <a:t>A DQ framework driven entirely by config. Results are real and messy — not a report dressed up to look clean.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3093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A97B5"/>
                </a:solidFill>
                <a:latin typeface="Calibri"/>
              </a:rPr>
              <a:t>10</a:t>
            </a:r>
          </a:p>
        </p:txBody>
      </p:sp>
      <p:sp>
        <p:nvSpPr>
          <p:cNvPr id="18" name="TextBox 7"/>
          <p:cNvSpPr txBox="1"/>
          <p:nvPr/>
        </p:nvSpPr>
        <p:spPr>
          <a:xfrm>
            <a:off x="777240" y="431596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A97B5"/>
                </a:solidFill>
                <a:latin typeface="Calibri"/>
              </a:rPr>
              <a:t>Input: solutions/submissions/baiju_mohan/  →  Output: outputs/results/baiju_mohan/04_infrastructure/  ·  Dockerfile: Dockerfile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5720" y="-45720"/>
            <a:ext cx="12280392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PILLAR 04 · INFRASTRUCTURE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1213B"/>
                </a:solidFill>
                <a:latin typeface="Cambria"/>
              </a:rPr>
              <a:t>Containerised, Governed, and Continuously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Dockerfile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895600" cy="1413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Multi-stage build. Builder installs deps with-user; only the site-packages make it into the final image. Final size: 1.41 GB.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DATA_DIR and OUTPUT_DIR come from env vars, with sane defaults if you skip them. Ran it end to 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67199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95799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5799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5880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Governance Doc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799" y="3246120"/>
            <a:ext cx="3027506" cy="2439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Every column across 4 datasets classified: Public / Internal / Confidential / PII.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Every PII column tagged — GDPR, UAE PDPL, or both. </a:t>
            </a:r>
            <a:br>
              <a:rPr lang="en-US" sz="1150" b="0" dirty="0">
                <a:solidFill>
                  <a:srgbClr val="21213B"/>
                </a:solidFill>
                <a:latin typeface="Calibri"/>
              </a:rPr>
            </a:br>
            <a:br>
              <a:rPr lang="en-US" sz="1150" b="0" dirty="0">
                <a:solidFill>
                  <a:srgbClr val="21213B"/>
                </a:solidFill>
                <a:latin typeface="Calibri"/>
              </a:rPr>
            </a:b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history: 10-year post-termination retention — longer than the 7-year base employee record, justified by WPS/gratuity-dispute exposure</a:t>
            </a:r>
            <a:endParaRPr lang="en-US" sz="1200" dirty="0"/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4320" y="2011680"/>
            <a:ext cx="3352800" cy="42062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22920" y="2240280"/>
            <a:ext cx="502920" cy="5029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22920" y="22402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2999" y="2286000"/>
            <a:ext cx="225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>
                <a:solidFill>
                  <a:srgbClr val="21213B"/>
                </a:solidFill>
                <a:latin typeface="Cambria"/>
              </a:rPr>
              <a:t>DQ Framework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2920" y="3246120"/>
            <a:ext cx="2895600" cy="971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9 checks per dataset: 6 required, 3 bonus (distribution, freshness, outlier).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dirty="0">
                <a:solidFill>
                  <a:srgbClr val="21213B"/>
                </a:solidFill>
                <a:latin typeface="Calibri"/>
              </a:rPr>
              <a:t>Rules live in a config dict. Nothing hardcoded. Ran it against real, uncleaned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18520" y="63093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4196" y="-45720"/>
            <a:ext cx="12280392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6C4F"/>
                </a:solidFill>
                <a:latin typeface="Calibri"/>
              </a:rPr>
              <a:t>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21213B"/>
                </a:solidFill>
                <a:latin typeface="Cambria"/>
              </a:rPr>
              <a:t>13 of 13 Tasks Verified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4206240" cy="416052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42062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0" b="1">
                <a:solidFill>
                  <a:srgbClr val="81B29A"/>
                </a:solidFill>
                <a:latin typeface="Cambria"/>
              </a:rPr>
              <a:t>13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PROVEN WITH REAL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347472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F2CC8F"/>
                </a:solidFill>
                <a:latin typeface="Calibri"/>
              </a:rPr>
              <a:t>Every task has real output behind it — captured, not assumed. Including the three that needed Docker: Task 2.3's Postgres benchmark, Task 3.3's Airflow run, Task 4.1's container build. Nothing here is just written and hoped for.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011680"/>
            <a:ext cx="2286000" cy="832103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4648" y="2011680"/>
            <a:ext cx="2103120" cy="8321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Pillar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2011680"/>
            <a:ext cx="1005840" cy="832103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70648" y="2011680"/>
            <a:ext cx="822960" cy="8321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Verified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66759" y="2011680"/>
            <a:ext cx="3611879" cy="832103"/>
          </a:xfrm>
          <a:prstGeom prst="rect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76488" y="2343093"/>
            <a:ext cx="3090672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Note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2843784"/>
            <a:ext cx="2286000" cy="832103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84648" y="2843784"/>
            <a:ext cx="2103120" cy="8321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1213B"/>
                </a:solidFill>
                <a:latin typeface="Calibri"/>
              </a:rPr>
              <a:t>01 Foundations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2843784"/>
            <a:ext cx="1005840" cy="832103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70648" y="2843784"/>
            <a:ext cx="822960" cy="8321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dirty="0">
                <a:solidFill>
                  <a:srgbClr val="21213B"/>
                </a:solidFill>
                <a:latin typeface="Calibri"/>
              </a:rPr>
              <a:t>3 /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2843784"/>
            <a:ext cx="3200400" cy="832103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•  Task 1.2 — Data Modelling: Star schema with SCD Type 2</a:t>
            </a:r>
          </a:p>
          <a:p>
            <a:pPr algn="ctr"/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8439911" y="2953265"/>
            <a:ext cx="3273553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050" dirty="0"/>
              <a:t>•  Task 1.1 — Python: Clean and transform projects.csv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3675888"/>
            <a:ext cx="2286000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84648" y="3675888"/>
            <a:ext cx="2103120" cy="8321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1213B"/>
                </a:solidFill>
                <a:latin typeface="Calibri"/>
              </a:rPr>
              <a:t>02 SQL &amp; Visualization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3675888"/>
            <a:ext cx="1005840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70648" y="3675888"/>
            <a:ext cx="822960" cy="8321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1213B"/>
                </a:solidFill>
                <a:latin typeface="Calibri"/>
              </a:rPr>
              <a:t>4 / 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59" y="3675888"/>
            <a:ext cx="3003331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31528" y="3725106"/>
            <a:ext cx="3135631" cy="6463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dirty="0"/>
              <a:t>•  Task 2.1 — SQL: Answer six business questions</a:t>
            </a:r>
          </a:p>
          <a:p>
            <a:r>
              <a:rPr sz="1050" dirty="0"/>
              <a:t>•  Task 2.2 — ETL Pipeline: Ingest, transform, and load</a:t>
            </a:r>
          </a:p>
          <a:p>
            <a:r>
              <a:rPr sz="1050" dirty="0"/>
              <a:t>•  Task 2.3 — Query </a:t>
            </a:r>
            <a:r>
              <a:rPr sz="1050" dirty="0" err="1"/>
              <a:t>Optimisation</a:t>
            </a:r>
            <a:endParaRPr sz="1050" dirty="0"/>
          </a:p>
          <a:p>
            <a:r>
              <a:rPr sz="1050" dirty="0"/>
              <a:t>•  Task 2.4 — Dashboard 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4920" y="4507992"/>
            <a:ext cx="2286000" cy="832103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84648" y="4507992"/>
            <a:ext cx="2103120" cy="8321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1213B"/>
                </a:solidFill>
                <a:latin typeface="Calibri"/>
              </a:rPr>
              <a:t>03 Big Data Processing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4507992"/>
            <a:ext cx="1005840" cy="832103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70648" y="4507992"/>
            <a:ext cx="822960" cy="8321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1213B"/>
                </a:solidFill>
                <a:latin typeface="Calibri"/>
              </a:rPr>
              <a:t>3 /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6760" y="4507992"/>
            <a:ext cx="2514600" cy="832103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12480" y="4706464"/>
            <a:ext cx="3003330" cy="484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dirty="0"/>
              <a:t>•  Task 3.1 — Apache Spark: Process events at scale</a:t>
            </a:r>
          </a:p>
          <a:p>
            <a:r>
              <a:rPr sz="1050" dirty="0"/>
              <a:t>•  Task 3.2 — Apache Kafka: Real-time streaming</a:t>
            </a:r>
          </a:p>
          <a:p>
            <a:r>
              <a:rPr sz="1050" dirty="0"/>
              <a:t>•  Task 3.3 — Apache Airflow: Orchestrate the pipeline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4920" y="5340096"/>
            <a:ext cx="2286000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184648" y="5340096"/>
            <a:ext cx="2103120" cy="8321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21213B"/>
                </a:solidFill>
                <a:latin typeface="Calibri"/>
              </a:rPr>
              <a:t>04 Infrastructure &amp; Governance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60920" y="5340096"/>
            <a:ext cx="1005840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470648" y="5340096"/>
            <a:ext cx="822960" cy="8321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1213B"/>
                </a:solidFill>
                <a:latin typeface="Calibri"/>
              </a:rPr>
              <a:t>3 / 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6760" y="5340096"/>
            <a:ext cx="2514600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02574" y="5531857"/>
            <a:ext cx="2865120" cy="484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dirty="0"/>
              <a:t>•  Task 4.1 — Docker: </a:t>
            </a:r>
            <a:r>
              <a:rPr sz="1050" dirty="0" err="1"/>
              <a:t>Containerise</a:t>
            </a:r>
            <a:r>
              <a:rPr sz="1050" dirty="0"/>
              <a:t> the ETL pipeline</a:t>
            </a:r>
          </a:p>
          <a:p>
            <a:r>
              <a:rPr sz="1050" dirty="0"/>
              <a:t>•  Task 4.2 — Data Governance Document</a:t>
            </a:r>
          </a:p>
          <a:p>
            <a:r>
              <a:rPr sz="1050" dirty="0"/>
              <a:t>•  Task 4.3 — Data Quality Framework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18520" y="63093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B6880"/>
                </a:solidFill>
                <a:latin typeface="Calibri"/>
              </a:rPr>
              <a:t>12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23C043-1723-0D44-53A5-2698F72524D6}"/>
              </a:ext>
            </a:extLst>
          </p:cNvPr>
          <p:cNvSpPr txBox="1"/>
          <p:nvPr/>
        </p:nvSpPr>
        <p:spPr>
          <a:xfrm>
            <a:off x="8431529" y="3157443"/>
            <a:ext cx="3547110" cy="6463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050" dirty="0"/>
              <a:t>•  Task 1.2 — Data Modelling: Star schema with SCD Type </a:t>
            </a:r>
          </a:p>
          <a:p>
            <a:pPr marL="719138" indent="-719138"/>
            <a:r>
              <a:rPr lang="en-US" sz="1050" dirty="0"/>
              <a:t>•  Task 1.3 — Data Quality: Find and fix issues in     employees.csv</a:t>
            </a:r>
          </a:p>
          <a:p>
            <a:endParaRPr lang="en-US" sz="1050" dirty="0"/>
          </a:p>
          <a:p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45720"/>
            <a:ext cx="12280392" cy="6949440"/>
          </a:xfrm>
          <a:prstGeom prst="rect">
            <a:avLst/>
          </a:prstGeom>
          <a:solidFill>
            <a:srgbClr val="212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778240" y="-2103120"/>
            <a:ext cx="5943600" cy="5943600"/>
          </a:xfrm>
          <a:prstGeom prst="ellipse">
            <a:avLst/>
          </a:prstGeom>
          <a:solidFill>
            <a:srgbClr val="2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2651760"/>
            <a:ext cx="9144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dirty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03320"/>
            <a:ext cx="86868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AE" sz="1400" i="1" dirty="0">
                <a:solidFill>
                  <a:srgbClr val="AE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floor for questions, including on areas that fell short.</a:t>
            </a:r>
            <a:endParaRPr sz="1400" i="1" dirty="0">
              <a:solidFill>
                <a:srgbClr val="AEE3E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77240" y="5394960"/>
            <a:ext cx="502920" cy="36576"/>
          </a:xfrm>
          <a:prstGeom prst="rect">
            <a:avLst/>
          </a:prstGeom>
          <a:solidFill>
            <a:srgbClr val="81B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532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A97B5"/>
                </a:solidFill>
                <a:latin typeface="Calibri"/>
              </a:rPr>
              <a:t>Baiju Mohan  ·  Presight Data Engineering Assessment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2041</Words>
  <Application>Microsoft Office PowerPoint</Application>
  <PresentationFormat>Widescreen</PresentationFormat>
  <Paragraphs>259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baiju mohan</cp:lastModifiedBy>
  <cp:revision>8</cp:revision>
  <dcterms:created xsi:type="dcterms:W3CDTF">2013-01-27T09:14:16Z</dcterms:created>
  <dcterms:modified xsi:type="dcterms:W3CDTF">2026-09-16T17:16:45Z</dcterms:modified>
  <cp:category/>
</cp:coreProperties>
</file>