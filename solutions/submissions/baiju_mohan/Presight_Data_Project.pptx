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267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ju Mohanan" userId="6ce81353-db79-4a5c-b311-d43eab8fa49b" providerId="ADAL" clId="{0EA6F451-31B2-4ABD-988A-61CCD395843F}"/>
    <pc:docChg chg="modSld">
      <pc:chgData name="Baiju Mohanan" userId="6ce81353-db79-4a5c-b311-d43eab8fa49b" providerId="ADAL" clId="{0EA6F451-31B2-4ABD-988A-61CCD395843F}" dt="2026-09-10T09:42:01.379" v="1" actId="1076"/>
      <pc:docMkLst>
        <pc:docMk/>
      </pc:docMkLst>
      <pc:sldChg chg="modSp mod">
        <pc:chgData name="Baiju Mohanan" userId="6ce81353-db79-4a5c-b311-d43eab8fa49b" providerId="ADAL" clId="{0EA6F451-31B2-4ABD-988A-61CCD395843F}" dt="2026-09-10T09:42:01.379" v="1" actId="1076"/>
        <pc:sldMkLst>
          <pc:docMk/>
          <pc:sldMk cId="0" sldId="257"/>
        </pc:sldMkLst>
        <pc:spChg chg="mod">
          <ac:chgData name="Baiju Mohanan" userId="6ce81353-db79-4a5c-b311-d43eab8fa49b" providerId="ADAL" clId="{0EA6F451-31B2-4ABD-988A-61CCD395843F}" dt="2026-09-10T09:42:01.379" v="1" actId="1076"/>
          <ac:spMkLst>
            <pc:docMk/>
            <pc:sldMk cId="0" sldId="257"/>
            <ac:spMk id="4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73152"/>
          </a:xfrm>
          <a:prstGeom prst="rect">
            <a:avLst/>
          </a:prstGeom>
          <a:solidFill>
            <a:srgbClr val="A8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3A94F"/>
                </a:solidFill>
                <a:latin typeface="Consolas"/>
              </a:rPr>
              <a:t>INTERVIEW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Presight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C7CAD8"/>
                </a:solidFill>
                <a:latin typeface="Calibri"/>
              </a:rPr>
              <a:t>A data engineering assessment: cleaning the data, building a versioned warehouse, processing event data at scale, orchestrating the pipeline, and covering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3A94F"/>
                </a:solidFill>
                <a:latin typeface="Consolas"/>
              </a:rPr>
              <a:t>Baiju Mohan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>
                <a:latin typeface="Consolas"/>
              </a:defRPr>
            </a:pPr>
            <a:r>
              <a:rPr sz="1150" b="1" i="0">
                <a:solidFill>
                  <a:srgbClr val="7A4F10"/>
                </a:solidFill>
                <a:latin typeface="Consolas"/>
              </a:rPr>
              <a:t>01 ·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71A24"/>
                </a:solidFill>
                <a:latin typeface="Georgia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39596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 dirty="0">
                <a:solidFill>
                  <a:srgbClr val="4A5063"/>
                </a:solidFill>
                <a:latin typeface="Calibri"/>
              </a:rPr>
              <a:t>Set up Presight's data engineering platform to provide clean data for analysis and reporting, track employee history, process event data, and run scheduled pipelines reliably.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Presight Analytics Platform — Data Engineering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2402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THE PROBLEM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Finance and Ops had no way to query project or spend data directly - every question meant opening CSVs by hand.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HR and Finance needed historical answers, but the data only ever showed the current state.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Over 100,000 platform usage events across 12 files had never been analysed.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The pipeline ran manually - no schedule, no automated quality checks, and nothing for Compliance to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IN SCOPE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Clean the data and detect quality issues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Build a star-schema warehouse with employee history (SCD2)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Answer 6 business questions and optimise one query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Build a Power BI dashboard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Process the event stream with Spark and Kafka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Schedule the pipeline in Airflow with a data quality gate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Containerise it with Docker, plus a governance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OUT OF SCOPE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Multi-node Spark and a production Kafka setup - the goal was correct logic, not production scale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Cloud deployment - the env-var configuration already used makes that a straightforward next step</a:t>
            </a:r>
          </a:p>
          <a:p>
            <a:pPr marL="177800" indent="-177800">
              <a:spcAft>
                <a:spcPts val="200"/>
              </a:spcAft>
              <a:buFont typeface="Arial"/>
              <a:buChar char="•"/>
            </a:pPr>
            <a:r>
              <a:rPr sz="1150">
                <a:solidFill>
                  <a:srgbClr val="4A5063"/>
                </a:solidFill>
                <a:latin typeface="Calibri"/>
              </a:rPr>
              <a:t>Final legal sign-off on retention periods - using reasonable defaults, flagged for Legal to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>
                <a:latin typeface="Consolas"/>
              </a:defRPr>
            </a:pPr>
            <a:r>
              <a:rPr sz="1150" b="1" i="0">
                <a:solidFill>
                  <a:srgbClr val="7A4F10"/>
                </a:solidFill>
                <a:latin typeface="Consolas"/>
              </a:rPr>
              <a:t>02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71A24"/>
                </a:solidFill>
                <a:latin typeface="Georgia"/>
              </a:rPr>
              <a:t>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A5063"/>
                </a:solidFill>
                <a:latin typeface="Calibri"/>
              </a:rPr>
              <a:t>dim_employee tracks full history using SCD Type 2, built in from the start rather than added on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Presight Analytics Platform — Data Engineering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3</a:t>
            </a:r>
          </a:p>
        </p:txBody>
      </p:sp>
      <p:pic>
        <p:nvPicPr>
          <p:cNvPr id="16" name="Picture 15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00200"/>
            <a:ext cx="11548872" cy="4936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>
                <a:latin typeface="Consolas"/>
              </a:defRPr>
            </a:pPr>
            <a:r>
              <a:rPr sz="1150" b="1" i="0">
                <a:solidFill>
                  <a:srgbClr val="7A4F10"/>
                </a:solidFill>
                <a:latin typeface="Consolas"/>
              </a:rPr>
              <a:t>03 · PILLAR 1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71A24"/>
                </a:solidFill>
                <a:latin typeface="Georgia"/>
              </a:rPr>
              <a:t>Foundations — Warehouse &amp; DQ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1605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INPUT
</a:t>
            </a:r>
            <a:r>
              <a:rPr sz="1250">
                <a:solidFill>
                  <a:srgbClr val="4A5063"/>
                </a:solidFill>
                <a:latin typeface="Calibri"/>
              </a:rPr>
              <a:t>projects.csv, employees.csv, salary_history.csv (raw Presight exports)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WORK DONE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Cleaned data with Pandas, 6-category DQ checks (etl_pipeline.py)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Built SCD2 dim_employee table in SQL (data_model.sql)</a:t>
            </a:r>
          </a:p>
          <a:p>
            <a:pPr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OUTPUT
</a:t>
            </a:r>
            <a:r>
              <a:rPr sz="1250">
                <a:solidFill>
                  <a:srgbClr val="4A5063"/>
                </a:solidFill>
                <a:latin typeface="Calibri"/>
              </a:rPr>
              <a:t>01_foundations/*_clean.csv  ·  presight_warehouse.duckdb (dim_employee, 2,231 versions)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DECISIONS &amp; TRADE-OFFS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Vectorised operations throughout - needed for speed at 50K+ rows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Found same-day duplicate history bug via validation, not code review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Fixed by collapsing same-day changes to final state before versioning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5870448"/>
            <a:ext cx="6172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78DA0"/>
                </a:solidFill>
                <a:latin typeface="Calibri"/>
              </a:rPr>
              <a:t>outputs/presight_warehouse.duckdb — Section 1 validation queries (Q1-Q5, all PASS)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Presight Analytics Platform — Data Engineering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4</a:t>
            </a:r>
          </a:p>
        </p:txBody>
      </p:sp>
      <p:pic>
        <p:nvPicPr>
          <p:cNvPr id="9" name="Picture 8" descr="pillar1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6172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>
                <a:latin typeface="Consolas"/>
              </a:defRPr>
            </a:pPr>
            <a:r>
              <a:rPr sz="1150" b="1" i="0">
                <a:solidFill>
                  <a:srgbClr val="7A4F10"/>
                </a:solidFill>
                <a:latin typeface="Consolas"/>
              </a:rPr>
              <a:t>04 · PILLAR 2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71A24"/>
                </a:solidFill>
                <a:latin typeface="Georgia"/>
              </a:rPr>
              <a:t>SQL &amp; Visualization — 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1605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INPUT
</a:t>
            </a:r>
            <a:r>
              <a:rPr sz="1250">
                <a:solidFill>
                  <a:srgbClr val="4A5063"/>
                </a:solidFill>
                <a:latin typeface="Calibri"/>
              </a:rPr>
              <a:t>Cleaned CSVs from Pillar 1  +  transactions.json (raw)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WORK DONE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Transactions ETL and enrichment (etl_full.py)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Star-schema warehouse load (data_model.sql, Section 2)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6 business questions (queries.sql)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Query optimisation exercise (query_optimization.sql)</a:t>
            </a:r>
          </a:p>
          <a:p>
            <a:pPr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OUTPUT
</a:t>
            </a:r>
            <a:r>
              <a:rPr sz="1250">
                <a:solidFill>
                  <a:srgbClr val="4A5063"/>
                </a:solidFill>
                <a:latin typeface="Calibri"/>
              </a:rPr>
              <a:t>transactions_clean.csv  ·  warehouse tables  ·  presight_dashboard.pbix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DECISIONS &amp; TRADE-OFFS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Reported the actual result: no measurable DuckDB speedup (see chart)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Verified on real Postgres too - indexes gave a genuine ~1.7x there (row-store vs DuckDB columnar zone maps)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4003243"/>
            <a:ext cx="6172200" cy="1757477"/>
          </a:xfrm>
          <a:prstGeom prst="rect">
            <a:avLst/>
          </a:prstGeom>
          <a:solidFill>
            <a:srgbClr val="EEEFF3"/>
          </a:solidFill>
          <a:ln w="15875">
            <a:solidFill>
              <a:srgbClr val="878D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0" i="0">
                <a:solidFill>
                  <a:srgbClr val="878DA0"/>
                </a:solidFill>
                <a:latin typeface="Calibri"/>
              </a:rPr>
              <a:t>▢</a:t>
            </a:r>
          </a:p>
          <a:p>
            <a:pPr algn="ctr">
              <a:spcBef>
                <a:spcPts val="800"/>
              </a:spcBef>
            </a:pPr>
            <a:r>
              <a:rPr sz="1300" b="0" i="1">
                <a:solidFill>
                  <a:srgbClr val="878DA0"/>
                </a:solidFill>
                <a:latin typeface="Calibri"/>
              </a:rPr>
              <a:t>Insert Power BI dashboard screenshot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5870448"/>
            <a:ext cx="6172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78DA0"/>
                </a:solidFill>
                <a:latin typeface="Calibri"/>
              </a:rPr>
              <a:t>Suggested: outputs/results/baiju_mohan/02_sql_and_viz/presight_dashboard.pbix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Presight Analytics Platform — Data Engineering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5</a:t>
            </a:r>
          </a:p>
        </p:txBody>
      </p:sp>
      <p:pic>
        <p:nvPicPr>
          <p:cNvPr id="9" name="Picture 8" descr="query_opt_chart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186" y="1600200"/>
            <a:ext cx="3567667" cy="2404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>
                <a:latin typeface="Consolas"/>
              </a:defRPr>
            </a:pPr>
            <a:r>
              <a:rPr sz="1150" b="1" i="0">
                <a:solidFill>
                  <a:srgbClr val="7A4F10"/>
                </a:solidFill>
                <a:latin typeface="Consolas"/>
              </a:rPr>
              <a:t>05 · PILLAR 3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71A24"/>
                </a:solidFill>
                <a:latin typeface="Georgia"/>
              </a:rPr>
              <a:t>Big Data — Spark, Kafka &amp; Airflow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1605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INPUT
</a:t>
            </a:r>
            <a:r>
              <a:rPr sz="1250">
                <a:solidFill>
                  <a:srgbClr val="4A5063"/>
                </a:solidFill>
                <a:latin typeface="Calibri"/>
              </a:rPr>
              <a:t>100,000 platform events across 12 monthly files; escalation raise/resolve events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WORK DONE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Spark batch -&gt; 5 Parquet tables, 114.7s for 99,996 events (spark_pipeline.py)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Kafka producer/consumer with severity routing (kafka_streaming.py)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Airflow DAG: extract -&gt; DQ gate -&gt; transform -&gt; load (airflow_dag.py)</a:t>
            </a:r>
          </a:p>
          <a:p>
            <a:pPr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OUTPUT
</a:t>
            </a:r>
            <a:r>
              <a:rPr sz="1250">
                <a:solidFill>
                  <a:srgbClr val="4A5063"/>
                </a:solidFill>
                <a:latin typeface="Calibri"/>
              </a:rPr>
              <a:t>outputs/artifacts/.../spark/*.parquet  ·  Kafka topics  ·  presight_etl_pipeline DAG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DECISIONS &amp; TRADE-OFFS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Rebuilt escalation matching: position-based to time-based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748 to 1,098 correctly matched, zero negative durations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Built DATA_DIR/OUTPUT_DIR pattern here, reused in Pillar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5870448"/>
            <a:ext cx="6172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78DA0"/>
                </a:solidFill>
                <a:latin typeface="Calibri"/>
              </a:rPr>
              <a:t>Airflow UI (localhost:8081) + Kafka UI (localhost:8080) — captured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Presight Analytics Platform — Data Engineering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6</a:t>
            </a:r>
          </a:p>
        </p:txBody>
      </p:sp>
      <p:pic>
        <p:nvPicPr>
          <p:cNvPr id="9" name="Picture 8" descr="pillar3_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6172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>
                <a:latin typeface="Consolas"/>
              </a:defRPr>
            </a:pPr>
            <a:r>
              <a:rPr sz="1150" b="1" i="0">
                <a:solidFill>
                  <a:srgbClr val="7A4F10"/>
                </a:solidFill>
                <a:latin typeface="Consolas"/>
              </a:rPr>
              <a:t>06 · PILLAR 4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71A24"/>
                </a:solidFill>
                <a:latin typeface="Georgia"/>
              </a:rPr>
              <a:t>Infrastructure — Container &amp;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1605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INPUT
</a:t>
            </a:r>
            <a:r>
              <a:rPr sz="1250">
                <a:solidFill>
                  <a:srgbClr val="4A5063"/>
                </a:solidFill>
                <a:latin typeface="Calibri"/>
              </a:rPr>
              <a:t>Dockerfile + requirements.txt; cleaned datasets; raw data (for DQ checks)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WORK DONE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Two-step Docker build (Dockerfile, repo root)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9-check DQ framework run as a hard gate (dq_framework.py)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Data governance document (data_governance_document.md)</a:t>
            </a:r>
          </a:p>
          <a:p>
            <a:pPr>
              <a:spcAft>
                <a:spcPts val="10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OUTPUT
</a:t>
            </a:r>
            <a:r>
              <a:rPr sz="1250">
                <a:solidFill>
                  <a:srgbClr val="4A5063"/>
                </a:solidFill>
                <a:latin typeface="Calibri"/>
              </a:rPr>
              <a:t>presight-etl image  ·  dq_report_*.md  ·  data_governance_document.md</a:t>
            </a:r>
          </a:p>
          <a:p>
            <a:pPr>
              <a:spcAft>
                <a:spcPts val="300"/>
              </a:spcAft>
              <a:buNone/>
            </a:pPr>
            <a:r>
              <a:rPr sz="1000" b="1">
                <a:solidFill>
                  <a:srgbClr val="878DA0"/>
                </a:solidFill>
                <a:latin typeface="Consolas"/>
              </a:rPr>
              <a:t>DECISIONS &amp; TRADE-OFFS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Two-step build: smaller image, more complex build (strips unneeded Airflow deps)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Tested DQ gate by forcing failure, not assuming it works</a:t>
            </a:r>
          </a:p>
          <a:p>
            <a:pPr marL="152400" indent="-152400">
              <a:spcAft>
                <a:spcPts val="200"/>
              </a:spcAft>
              <a:buFont typeface="Arial"/>
              <a:buChar char="•"/>
            </a:pPr>
            <a:r>
              <a:rPr sz="1100">
                <a:solidFill>
                  <a:srgbClr val="4A5063"/>
                </a:solidFill>
                <a:latin typeface="Calibri"/>
              </a:rPr>
              <a:t>2 real gaps found via peer review (manager_id check, salary/level consistency)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5870448"/>
            <a:ext cx="6172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878DA0"/>
                </a:solidFill>
                <a:latin typeface="Calibri"/>
              </a:rPr>
              <a:t>docker run output + outputs/results/baiju_mohan/04_infrastructure/dq_report_transactions.md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Presight Analytics Platform — Data Engineering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878DA0"/>
                </a:solidFill>
                <a:latin typeface="Consolas"/>
              </a:rPr>
              <a:t>7</a:t>
            </a:r>
          </a:p>
        </p:txBody>
      </p:sp>
      <p:pic>
        <p:nvPicPr>
          <p:cNvPr id="9" name="Picture 8" descr="pillar4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617220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73152"/>
          </a:xfrm>
          <a:prstGeom prst="rect">
            <a:avLst/>
          </a:prstGeom>
          <a:solidFill>
            <a:srgbClr val="A87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7CAD8"/>
                </a:solidFill>
                <a:latin typeface="Consolas"/>
              </a:rPr>
              <a:t>Full source: solutions/submissions/baiju_mohan/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9FB2"/>
                </a:solidFill>
                <a:latin typeface="Consolas"/>
              </a:rPr>
              <a:t>Master narrative: SUBMISSION_NOTES.md   ·   Run guide: HOW_TO_RUN.md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868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Baiju Mohanan</cp:lastModifiedBy>
  <cp:revision>1</cp:revision>
  <dcterms:created xsi:type="dcterms:W3CDTF">2013-01-27T09:14:16Z</dcterms:created>
  <dcterms:modified xsi:type="dcterms:W3CDTF">2026-09-10T09:42:08Z</dcterms:modified>
  <cp:category/>
</cp:coreProperties>
</file>