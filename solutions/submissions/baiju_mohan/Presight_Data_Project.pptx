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Rectangle 1"/>
          <p:cNvSpPr/>
          <p:nvPr/>
        </p:nvSpPr>
        <p:spPr>
          <a:xfrm>
            <a:off x="0" y="5989320"/>
            <a:ext cx="12191695" cy="73152"/>
          </a:xfrm>
          <a:prstGeom prst="rect">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8686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INTERVIEW WALKTHROUGH</a:t>
            </a:r>
          </a:p>
        </p:txBody>
      </p:sp>
      <p:sp>
        <p:nvSpPr>
          <p:cNvPr id="4" name="TextBox 3"/>
          <p:cNvSpPr txBox="1"/>
          <p:nvPr/>
        </p:nvSpPr>
        <p:spPr>
          <a:xfrm>
            <a:off x="777240" y="2697480"/>
            <a:ext cx="10515600" cy="1554480"/>
          </a:xfrm>
          <a:prstGeom prst="rect">
            <a:avLst/>
          </a:prstGeom>
          <a:noFill/>
        </p:spPr>
        <p:txBody>
          <a:bodyPr wrap="square" anchor="t" lIns="0" rIns="0" tIns="0" bIns="0">
            <a:spAutoFit/>
          </a:bodyPr>
          <a:lstStyle/>
          <a:p>
            <a:pPr algn="l">
              <a:spcBef>
                <a:spcPts val="0"/>
              </a:spcBef>
              <a:spcAft>
                <a:spcPts val="600"/>
              </a:spcAft>
            </a:pPr>
            <a:r>
              <a:rPr sz="4400" b="1" i="0">
                <a:solidFill>
                  <a:srgbClr val="FFFFFF"/>
                </a:solidFill>
                <a:latin typeface="Georgia"/>
              </a:rPr>
              <a:t>Presight Analytics Platform</a:t>
            </a:r>
          </a:p>
        </p:txBody>
      </p:sp>
      <p:sp>
        <p:nvSpPr>
          <p:cNvPr id="5" name="TextBox 4"/>
          <p:cNvSpPr txBox="1"/>
          <p:nvPr/>
        </p:nvSpPr>
        <p:spPr>
          <a:xfrm>
            <a:off x="822960" y="3703320"/>
            <a:ext cx="9144000" cy="548640"/>
          </a:xfrm>
          <a:prstGeom prst="rect">
            <a:avLst/>
          </a:prstGeom>
          <a:noFill/>
        </p:spPr>
        <p:txBody>
          <a:bodyPr wrap="square" anchor="t" lIns="0" rIns="0" tIns="0" bIns="0">
            <a:spAutoFit/>
          </a:bodyPr>
          <a:lstStyle/>
          <a:p>
            <a:pPr algn="l">
              <a:spcBef>
                <a:spcPts val="0"/>
              </a:spcBef>
              <a:spcAft>
                <a:spcPts val="600"/>
              </a:spcAft>
            </a:pPr>
            <a:r>
              <a:rPr sz="1550" b="0" i="0">
                <a:solidFill>
                  <a:srgbClr val="C7CAD8"/>
                </a:solidFill>
                <a:latin typeface="Calibri"/>
              </a:rPr>
              <a:t>A data engineering assessment — cleaning, a versioned warehouse, a big-data event
pipeline, orchestration, and the governance behind all of it.</a:t>
            </a:r>
          </a:p>
        </p:txBody>
      </p:sp>
      <p:sp>
        <p:nvSpPr>
          <p:cNvPr id="6" name="TextBox 5"/>
          <p:cNvSpPr txBox="1"/>
          <p:nvPr/>
        </p:nvSpPr>
        <p:spPr>
          <a:xfrm>
            <a:off x="822960" y="6126480"/>
            <a:ext cx="54864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Baiju Mohan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01 · OVERVIEW</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Executive Summary</a:t>
            </a:r>
          </a:p>
        </p:txBody>
      </p:sp>
      <p:sp>
        <p:nvSpPr>
          <p:cNvPr id="4" name="TextBox 3"/>
          <p:cNvSpPr txBox="1"/>
          <p:nvPr/>
        </p:nvSpPr>
        <p:spPr>
          <a:xfrm>
            <a:off x="640080" y="1417320"/>
            <a:ext cx="10607040" cy="822960"/>
          </a:xfrm>
          <a:prstGeom prst="rect">
            <a:avLst/>
          </a:prstGeom>
          <a:noFill/>
        </p:spPr>
        <p:txBody>
          <a:bodyPr wrap="square" anchor="t" lIns="0" rIns="0" tIns="0" bIns="0">
            <a:spAutoFit/>
          </a:bodyPr>
          <a:lstStyle/>
          <a:p>
            <a:pPr algn="l">
              <a:spcBef>
                <a:spcPts val="0"/>
              </a:spcBef>
              <a:spcAft>
                <a:spcPts val="600"/>
              </a:spcAft>
            </a:pPr>
            <a:r>
              <a:rPr sz="1350" b="0" i="0">
                <a:solidFill>
                  <a:srgbClr val="4A5063"/>
                </a:solidFill>
                <a:latin typeface="Calibri"/>
              </a:rPr>
              <a:t>Presight's project, employee, transaction, and platform-event data existed only as raw exports — no history, no schedule, no quality checks. This submission builds the data engineering layer underneath: a cleaned dataset, a star-schema warehouse with true employee history (SCD2), a big-data event pipeline (Spark + Kafka), a scheduled and gated Airflow pipeline, and the governance to back it.</a:t>
            </a:r>
          </a:p>
        </p:txBody>
      </p:sp>
      <p:sp>
        <p:nvSpPr>
          <p:cNvPr id="5" name="Rectangle 4"/>
          <p:cNvSpPr/>
          <p:nvPr/>
        </p:nvSpPr>
        <p:spPr>
          <a:xfrm>
            <a:off x="640080"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0.84s</a:t>
            </a:r>
          </a:p>
          <a:p>
            <a:pPr>
              <a:spcBef>
                <a:spcPts val="400"/>
              </a:spcBef>
            </a:pPr>
            <a:r>
              <a:rPr sz="1050" b="0" i="0">
                <a:solidFill>
                  <a:srgbClr val="878DA0"/>
                </a:solidFill>
                <a:latin typeface="Calibri"/>
              </a:rPr>
              <a:t>Transactions ETL · 50,000 rows (target &lt;30s)</a:t>
            </a:r>
          </a:p>
        </p:txBody>
      </p:sp>
      <p:sp>
        <p:nvSpPr>
          <p:cNvPr id="6" name="Rectangle 5"/>
          <p:cNvSpPr/>
          <p:nvPr/>
        </p:nvSpPr>
        <p:spPr>
          <a:xfrm>
            <a:off x="4224528"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114.7s</a:t>
            </a:r>
          </a:p>
          <a:p>
            <a:pPr>
              <a:spcBef>
                <a:spcPts val="400"/>
              </a:spcBef>
            </a:pPr>
            <a:r>
              <a:rPr sz="1050" b="0" i="0">
                <a:solidFill>
                  <a:srgbClr val="878DA0"/>
                </a:solidFill>
                <a:latin typeface="Calibri"/>
              </a:rPr>
              <a:t>Spark · 99,996 events, ~872 events/sec</a:t>
            </a:r>
          </a:p>
        </p:txBody>
      </p:sp>
      <p:sp>
        <p:nvSpPr>
          <p:cNvPr id="7" name="Rectangle 6"/>
          <p:cNvSpPr/>
          <p:nvPr/>
        </p:nvSpPr>
        <p:spPr>
          <a:xfrm>
            <a:off x="7808976"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8,333 / 8,333</a:t>
            </a:r>
          </a:p>
          <a:p>
            <a:pPr>
              <a:spcBef>
                <a:spcPts val="400"/>
              </a:spcBef>
            </a:pPr>
            <a:r>
              <a:rPr sz="1050" b="0" i="0">
                <a:solidFill>
                  <a:srgbClr val="878DA0"/>
                </a:solidFill>
                <a:latin typeface="Calibri"/>
              </a:rPr>
              <a:t>Kafka messages consumed, 0 lost</a:t>
            </a:r>
          </a:p>
        </p:txBody>
      </p:sp>
      <p:sp>
        <p:nvSpPr>
          <p:cNvPr id="8" name="Rectangle 7"/>
          <p:cNvSpPr/>
          <p:nvPr/>
        </p:nvSpPr>
        <p:spPr>
          <a:xfrm>
            <a:off x="640080"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11.1s</a:t>
            </a:r>
          </a:p>
          <a:p>
            <a:pPr>
              <a:spcBef>
                <a:spcPts val="400"/>
              </a:spcBef>
            </a:pPr>
            <a:r>
              <a:rPr sz="1050" b="0" i="0">
                <a:solidFill>
                  <a:srgbClr val="878DA0"/>
                </a:solidFill>
                <a:latin typeface="Calibri"/>
              </a:rPr>
              <a:t>Dockerised ETL, wall clock (target &lt;30s)</a:t>
            </a:r>
          </a:p>
        </p:txBody>
      </p:sp>
      <p:sp>
        <p:nvSpPr>
          <p:cNvPr id="9" name="Rectangle 8"/>
          <p:cNvSpPr/>
          <p:nvPr/>
        </p:nvSpPr>
        <p:spPr>
          <a:xfrm>
            <a:off x="4224528"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2,232</a:t>
            </a:r>
          </a:p>
          <a:p>
            <a:pPr>
              <a:spcBef>
                <a:spcPts val="400"/>
              </a:spcBef>
            </a:pPr>
            <a:r>
              <a:rPr sz="1050" b="0" i="0">
                <a:solidFill>
                  <a:srgbClr val="878DA0"/>
                </a:solidFill>
                <a:latin typeface="Calibri"/>
              </a:rPr>
              <a:t>dim_employee SCD2 versions · 0 overlaps</a:t>
            </a:r>
          </a:p>
        </p:txBody>
      </p:sp>
      <p:sp>
        <p:nvSpPr>
          <p:cNvPr id="10" name="Rectangle 9"/>
          <p:cNvSpPr/>
          <p:nvPr/>
        </p:nvSpPr>
        <p:spPr>
          <a:xfrm>
            <a:off x="7808976"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6/9 · 3/9 · 6/9</a:t>
            </a:r>
          </a:p>
          <a:p>
            <a:pPr>
              <a:spcBef>
                <a:spcPts val="400"/>
              </a:spcBef>
            </a:pPr>
            <a:r>
              <a:rPr sz="1050" b="0" i="0">
                <a:solidFill>
                  <a:srgbClr val="878DA0"/>
                </a:solidFill>
                <a:latin typeface="Calibri"/>
              </a:rPr>
              <a:t>Real DQ check results — projects / employees / txns</a:t>
            </a:r>
          </a:p>
        </p:txBody>
      </p:sp>
      <p:sp>
        <p:nvSpPr>
          <p:cNvPr id="11" name="Rounded Rectangle 10"/>
          <p:cNvSpPr/>
          <p:nvPr/>
        </p:nvSpPr>
        <p:spPr>
          <a:xfrm>
            <a:off x="640080" y="4709160"/>
            <a:ext cx="10607040" cy="1234440"/>
          </a:xfrm>
          <a:prstGeom prst="roundRect">
            <a:avLst>
              <a:gd name="adj" fmla="val 8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46304"/>
          <a:lstStyle/>
          <a:p>
            <a:pPr algn="l"/>
            <a:r>
              <a:rPr sz="1300" b="1" i="0">
                <a:solidFill>
                  <a:srgbClr val="7A4F10"/>
                </a:solidFill>
                <a:latin typeface="Calibri"/>
              </a:rPr>
              <a:t>Thread through the whole project: </a:t>
            </a:r>
            <a:r>
              <a:rPr sz="1300" b="0" i="0">
                <a:solidFill>
                  <a:srgbClr val="7A4F10"/>
                </a:solidFill>
                <a:latin typeface="Calibri"/>
              </a:rPr>
              <a:t>every claim here was watched happen against real data and real infrastructure — not assumed to work because the code looked right. Four real bugs were found this way, none visible just from reading the code.</a:t>
            </a:r>
          </a:p>
        </p:txBody>
      </p:sp>
      <p:sp>
        <p:nvSpPr>
          <p:cNvPr id="12" name="TextBox 11"/>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3" name="TextBox 12"/>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01 · OVERVIEW</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Business Problem &amp; Scope</a:t>
            </a:r>
          </a:p>
        </p:txBody>
      </p:sp>
      <p:sp>
        <p:nvSpPr>
          <p:cNvPr id="4" name="TextBox 3"/>
          <p:cNvSpPr txBox="1"/>
          <p:nvPr/>
        </p:nvSpPr>
        <p:spPr>
          <a:xfrm>
            <a:off x="640080" y="1508760"/>
            <a:ext cx="10607040" cy="1417320"/>
          </a:xfrm>
          <a:prstGeom prst="rect">
            <a:avLst/>
          </a:prstGeom>
          <a:noFill/>
        </p:spPr>
        <p:txBody>
          <a:bodyPr wrap="square" anchor="t" lIns="0" rIns="0" tIns="0" bIns="0">
            <a:spAutoFit/>
          </a:bodyPr>
          <a:lstStyle/>
          <a:p>
            <a:pPr algn="l">
              <a:spcBef>
                <a:spcPts val="0"/>
              </a:spcBef>
              <a:spcAft>
                <a:spcPts val="800"/>
              </a:spcAft>
            </a:pPr>
            <a:r>
              <a:rPr sz="1300" b="0" i="0">
                <a:solidFill>
                  <a:srgbClr val="4A5063"/>
                </a:solidFill>
                <a:latin typeface="Calibri"/>
              </a:rPr>
              <a:t>—  Finance &amp; Operations had recurring questions about projects and spend, but no way to query the data directly — every answer meant manually opening CSVs.</a:t>
            </a:r>
          </a:p>
          <a:p>
            <a:pPr algn="l">
              <a:spcBef>
                <a:spcPts val="0"/>
              </a:spcBef>
              <a:spcAft>
                <a:spcPts val="800"/>
              </a:spcAft>
            </a:pPr>
            <a:r>
              <a:rPr sz="1300" b="0" i="0">
                <a:solidFill>
                  <a:srgbClr val="4A5063"/>
                </a:solidFill>
                <a:latin typeface="Calibri"/>
              </a:rPr>
              <a:t>—  HR &amp; Finance needed historical answers too ("what was this person earning when they approved this expense?") — the data only showed current state.</a:t>
            </a:r>
          </a:p>
          <a:p>
            <a:pPr algn="l">
              <a:spcBef>
                <a:spcPts val="0"/>
              </a:spcBef>
              <a:spcAft>
                <a:spcPts val="800"/>
              </a:spcAft>
            </a:pPr>
            <a:r>
              <a:rPr sz="1300" b="0" i="0">
                <a:solidFill>
                  <a:srgbClr val="4A5063"/>
                </a:solidFill>
                <a:latin typeface="Calibri"/>
              </a:rPr>
              <a:t>—  The platform throws off 100,000+ usage events across 12 files with no way to analyse them — which projects escalate most, when usage peaks.</a:t>
            </a:r>
          </a:p>
          <a:p>
            <a:pPr algn="l">
              <a:spcBef>
                <a:spcPts val="0"/>
              </a:spcBef>
              <a:spcAft>
                <a:spcPts val="800"/>
              </a:spcAft>
            </a:pPr>
            <a:r>
              <a:rPr sz="1300" b="0" i="0">
                <a:solidFill>
                  <a:srgbClr val="4A5063"/>
                </a:solidFill>
                <a:latin typeface="Calibri"/>
              </a:rPr>
              <a:t>—  Underneath all three: the pipeline ran manually — no schedule, no automated quality checks, nothing Compliance could review.</a:t>
            </a:r>
          </a:p>
        </p:txBody>
      </p:sp>
      <p:sp>
        <p:nvSpPr>
          <p:cNvPr id="5" name="Rounded Rectangle 4"/>
          <p:cNvSpPr/>
          <p:nvPr/>
        </p:nvSpPr>
        <p:spPr>
          <a:xfrm>
            <a:off x="640080" y="3246120"/>
            <a:ext cx="5166360" cy="2743200"/>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82880" rIns="201168"/>
          <a:lstStyle/>
          <a:p>
            <a:pPr algn="l">
              <a:spcBef>
                <a:spcPts val="0"/>
              </a:spcBef>
              <a:spcAft>
                <a:spcPts val="600"/>
              </a:spcAft>
            </a:pPr>
            <a:r>
              <a:rPr sz="1200" b="1" i="0">
                <a:solidFill>
                  <a:srgbClr val="2E7D46"/>
                </a:solidFill>
                <a:latin typeface="Consolas"/>
              </a:rPr>
              <a:t>IN SCOPE</a:t>
            </a:r>
          </a:p>
          <a:p>
            <a:pPr algn="l">
              <a:spcBef>
                <a:spcPts val="0"/>
              </a:spcBef>
              <a:spcAft>
                <a:spcPts val="600"/>
              </a:spcAft>
            </a:pPr>
            <a:r>
              <a:rPr sz="1200" b="0" i="0">
                <a:solidFill>
                  <a:srgbClr val="4A5063"/>
                </a:solidFill>
                <a:latin typeface="Calibri"/>
              </a:rPr>
              <a:t>—  Clean project/employee data, detect DQ issues</a:t>
            </a:r>
          </a:p>
          <a:p>
            <a:pPr algn="l">
              <a:spcBef>
                <a:spcPts val="0"/>
              </a:spcBef>
              <a:spcAft>
                <a:spcPts val="600"/>
              </a:spcAft>
            </a:pPr>
            <a:r>
              <a:rPr sz="1200" b="0" i="0">
                <a:solidFill>
                  <a:srgbClr val="4A5063"/>
                </a:solidFill>
                <a:latin typeface="Calibri"/>
              </a:rPr>
              <a:t>—  Star-schema warehouse, employee history via SCD2</a:t>
            </a:r>
          </a:p>
          <a:p>
            <a:pPr algn="l">
              <a:spcBef>
                <a:spcPts val="0"/>
              </a:spcBef>
              <a:spcAft>
                <a:spcPts val="600"/>
              </a:spcAft>
            </a:pPr>
            <a:r>
              <a:rPr sz="1200" b="0" i="0">
                <a:solidFill>
                  <a:srgbClr val="4A5063"/>
                </a:solidFill>
                <a:latin typeface="Calibri"/>
              </a:rPr>
              <a:t>—  Six business questions + query optimisation</a:t>
            </a:r>
          </a:p>
          <a:p>
            <a:pPr algn="l">
              <a:spcBef>
                <a:spcPts val="0"/>
              </a:spcBef>
              <a:spcAft>
                <a:spcPts val="600"/>
              </a:spcAft>
            </a:pPr>
            <a:r>
              <a:rPr sz="1200" b="0" i="0">
                <a:solidFill>
                  <a:srgbClr val="4A5063"/>
                </a:solidFill>
                <a:latin typeface="Calibri"/>
              </a:rPr>
              <a:t>—  Executive dashboard in Power BI</a:t>
            </a:r>
          </a:p>
          <a:p>
            <a:pPr algn="l">
              <a:spcBef>
                <a:spcPts val="0"/>
              </a:spcBef>
              <a:spcAft>
                <a:spcPts val="600"/>
              </a:spcAft>
            </a:pPr>
            <a:r>
              <a:rPr sz="1200" b="0" i="0">
                <a:solidFill>
                  <a:srgbClr val="4A5063"/>
                </a:solidFill>
                <a:latin typeface="Calibri"/>
              </a:rPr>
              <a:t>—  Spark batch + Kafka streaming for the event stream</a:t>
            </a:r>
          </a:p>
          <a:p>
            <a:pPr algn="l">
              <a:spcBef>
                <a:spcPts val="0"/>
              </a:spcBef>
              <a:spcAft>
                <a:spcPts val="600"/>
              </a:spcAft>
            </a:pPr>
            <a:r>
              <a:rPr sz="1200" b="0" i="0">
                <a:solidFill>
                  <a:srgbClr val="4A5063"/>
                </a:solidFill>
                <a:latin typeface="Calibri"/>
              </a:rPr>
              <a:t>—  Scheduled Airflow pipeline with a DQ gate</a:t>
            </a:r>
          </a:p>
          <a:p>
            <a:pPr algn="l">
              <a:spcBef>
                <a:spcPts val="0"/>
              </a:spcBef>
              <a:spcAft>
                <a:spcPts val="600"/>
              </a:spcAft>
            </a:pPr>
            <a:r>
              <a:rPr sz="1200" b="0" i="0">
                <a:solidFill>
                  <a:srgbClr val="4A5063"/>
                </a:solidFill>
                <a:latin typeface="Calibri"/>
              </a:rPr>
              <a:t>—  Docker containerisation + governance document</a:t>
            </a:r>
          </a:p>
        </p:txBody>
      </p:sp>
      <p:sp>
        <p:nvSpPr>
          <p:cNvPr id="6" name="Rounded Rectangle 5"/>
          <p:cNvSpPr/>
          <p:nvPr/>
        </p:nvSpPr>
        <p:spPr>
          <a:xfrm>
            <a:off x="5989320" y="3246120"/>
            <a:ext cx="5257800" cy="2743200"/>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82880" rIns="201168"/>
          <a:lstStyle/>
          <a:p>
            <a:pPr algn="l">
              <a:spcBef>
                <a:spcPts val="0"/>
              </a:spcBef>
              <a:spcAft>
                <a:spcPts val="600"/>
              </a:spcAft>
            </a:pPr>
            <a:r>
              <a:rPr sz="1200" b="1" i="0">
                <a:solidFill>
                  <a:srgbClr val="878DA0"/>
                </a:solidFill>
                <a:latin typeface="Consolas"/>
              </a:rPr>
              <a:t>OUT OF SCOPE</a:t>
            </a:r>
          </a:p>
          <a:p>
            <a:pPr algn="l">
              <a:spcBef>
                <a:spcPts val="0"/>
              </a:spcBef>
              <a:spcAft>
                <a:spcPts val="600"/>
              </a:spcAft>
            </a:pPr>
            <a:r>
              <a:rPr sz="1200" b="0" i="0">
                <a:solidFill>
                  <a:srgbClr val="4A5063"/>
                </a:solidFill>
                <a:latin typeface="Calibri"/>
              </a:rPr>
              <a:t>—  Multi-node Spark cluster / production Kafka — goal was correct logic, not production scale</a:t>
            </a:r>
          </a:p>
          <a:p>
            <a:pPr algn="l">
              <a:spcBef>
                <a:spcPts val="0"/>
              </a:spcBef>
              <a:spcAft>
                <a:spcPts val="600"/>
              </a:spcAft>
            </a:pPr>
            <a:r>
              <a:rPr sz="1200" b="0" i="0">
                <a:solidFill>
                  <a:srgbClr val="4A5063"/>
                </a:solidFill>
                <a:latin typeface="Calibri"/>
              </a:rPr>
              <a:t>—  Cloud deployment — env-var config makes it a follow-on step, not a rewrite</a:t>
            </a:r>
          </a:p>
          <a:p>
            <a:pPr algn="l">
              <a:spcBef>
                <a:spcPts val="0"/>
              </a:spcBef>
              <a:spcAft>
                <a:spcPts val="600"/>
              </a:spcAft>
            </a:pPr>
            <a:r>
              <a:rPr sz="1200" b="0" i="0">
                <a:solidFill>
                  <a:srgbClr val="4A5063"/>
                </a:solidFill>
                <a:latin typeface="Calibri"/>
              </a:rPr>
              <a:t>—  Final legal sign-off on retention periods — defaults flagged for Legal review</a:t>
            </a:r>
          </a:p>
          <a:p>
            <a:pPr algn="l">
              <a:spcBef>
                <a:spcPts val="1400"/>
              </a:spcBef>
              <a:spcAft>
                <a:spcPts val="600"/>
              </a:spcAft>
            </a:pPr>
            <a:r>
              <a:rPr sz="1100" b="0" i="1">
                <a:solidFill>
                  <a:srgbClr val="878DA0"/>
                </a:solidFill>
                <a:latin typeface="Calibri"/>
              </a:rPr>
              <a:t>Data scale: 500 projects · 1,000 employees · ~1,826 salary-history rows · 50,000 transactions · 100,000 events / 12 files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02 · ARCHITECTURE</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Architecture &amp; Data Flow</a:t>
            </a:r>
          </a:p>
        </p:txBody>
      </p:sp>
      <p:sp>
        <p:nvSpPr>
          <p:cNvPr id="4" name="TextBox 3"/>
          <p:cNvSpPr txBox="1"/>
          <p:nvPr/>
        </p:nvSpPr>
        <p:spPr>
          <a:xfrm>
            <a:off x="640080" y="1417320"/>
            <a:ext cx="10607040" cy="502920"/>
          </a:xfrm>
          <a:prstGeom prst="rect">
            <a:avLst/>
          </a:prstGeom>
          <a:noFill/>
        </p:spPr>
        <p:txBody>
          <a:bodyPr wrap="square" anchor="t" lIns="0" rIns="0" tIns="0" bIns="0">
            <a:spAutoFit/>
          </a:bodyPr>
          <a:lstStyle/>
          <a:p>
            <a:pPr algn="l">
              <a:spcBef>
                <a:spcPts val="0"/>
              </a:spcBef>
              <a:spcAft>
                <a:spcPts val="600"/>
              </a:spcAft>
            </a:pPr>
            <a:r>
              <a:rPr sz="1400" b="0" i="0">
                <a:solidFill>
                  <a:srgbClr val="171A24"/>
                </a:solidFill>
                <a:latin typeface="Calibri"/>
              </a:rPr>
              <a:t/>
            </a:r>
            <a:r>
              <a:rPr sz="1300" b="0" i="0">
                <a:solidFill>
                  <a:srgbClr val="4A5063"/>
                </a:solidFill>
                <a:latin typeface="Calibri"/>
              </a:rPr>
              <a:t>One decision ties it together: </a:t>
            </a:r>
            <a:r>
              <a:rPr sz="1300" b="1" i="0">
                <a:solidFill>
                  <a:srgbClr val="171A24"/>
                </a:solidFill>
                <a:latin typeface="Calibri"/>
              </a:rPr>
              <a:t>treating dim_employee as real SCD Type 2 from day one.</a:t>
            </a:r>
          </a:p>
        </p:txBody>
      </p:sp>
      <p:sp>
        <p:nvSpPr>
          <p:cNvPr id="5" name="Rounded Rectangle 4"/>
          <p:cNvSpPr/>
          <p:nvPr/>
        </p:nvSpPr>
        <p:spPr>
          <a:xfrm>
            <a:off x="640080" y="2057400"/>
            <a:ext cx="10607040" cy="749808"/>
          </a:xfrm>
          <a:prstGeom prst="roundRect">
            <a:avLst>
              <a:gd name="adj" fmla="val 12000"/>
            </a:avLst>
          </a:prstGeom>
          <a:solidFill>
            <a:srgbClr val="EEE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878DA0"/>
                </a:solidFill>
                <a:latin typeface="Calibri"/>
              </a:rPr>
              <a:t>Raw exports</a:t>
            </a:r>
          </a:p>
          <a:p>
            <a:pPr>
              <a:spcBef>
                <a:spcPts val="200"/>
              </a:spcBef>
            </a:pPr>
            <a:r>
              <a:rPr sz="1150" b="0" i="0">
                <a:solidFill>
                  <a:srgbClr val="4A5063"/>
                </a:solidFill>
                <a:latin typeface="Calibri"/>
              </a:rPr>
              <a:t>projects.csv · employees.csv · salary history · transactions.json · 12 event files</a:t>
            </a:r>
          </a:p>
        </p:txBody>
      </p:sp>
      <p:sp>
        <p:nvSpPr>
          <p:cNvPr id="6" name="Down Arrow 5"/>
          <p:cNvSpPr/>
          <p:nvPr/>
        </p:nvSpPr>
        <p:spPr>
          <a:xfrm>
            <a:off x="5806440" y="27889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971800"/>
            <a:ext cx="10607040" cy="749808"/>
          </a:xfrm>
          <a:prstGeom prst="roundRect">
            <a:avLst>
              <a:gd name="adj" fmla="val 12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7A4F10"/>
                </a:solidFill>
                <a:latin typeface="Calibri"/>
              </a:rPr>
              <a:t>Pillar 1 — Foundations</a:t>
            </a:r>
          </a:p>
          <a:p>
            <a:pPr>
              <a:spcBef>
                <a:spcPts val="200"/>
              </a:spcBef>
            </a:pPr>
            <a:r>
              <a:rPr sz="1150" b="0" i="0">
                <a:solidFill>
                  <a:srgbClr val="4A5063"/>
                </a:solidFill>
                <a:latin typeface="Calibri"/>
              </a:rPr>
              <a:t>Vectorised cleaning + 6-category DQ  →  SCD2 build: dim_employee</a:t>
            </a:r>
          </a:p>
        </p:txBody>
      </p:sp>
      <p:sp>
        <p:nvSpPr>
          <p:cNvPr id="8" name="Down Arrow 7"/>
          <p:cNvSpPr/>
          <p:nvPr/>
        </p:nvSpPr>
        <p:spPr>
          <a:xfrm>
            <a:off x="5806440" y="37033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3886200"/>
            <a:ext cx="10607040" cy="749808"/>
          </a:xfrm>
          <a:prstGeom prst="roundRect">
            <a:avLst>
              <a:gd name="adj" fmla="val 12000"/>
            </a:avLst>
          </a:prstGeom>
          <a:solidFill>
            <a:srgbClr val="DCEC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2C766E"/>
                </a:solidFill>
                <a:latin typeface="Calibri"/>
              </a:rPr>
              <a:t>Pillar 2 — SQL &amp; Viz</a:t>
            </a:r>
          </a:p>
          <a:p>
            <a:pPr>
              <a:spcBef>
                <a:spcPts val="200"/>
              </a:spcBef>
            </a:pPr>
            <a:r>
              <a:rPr sz="1150" b="0" i="0">
                <a:solidFill>
                  <a:srgbClr val="4A5063"/>
                </a:solidFill>
                <a:latin typeface="Calibri"/>
              </a:rPr>
              <a:t>DuckDB star schema  →  6 business questions  →  executive dashboard</a:t>
            </a:r>
          </a:p>
        </p:txBody>
      </p:sp>
      <p:sp>
        <p:nvSpPr>
          <p:cNvPr id="10" name="Down Arrow 9"/>
          <p:cNvSpPr/>
          <p:nvPr/>
        </p:nvSpPr>
        <p:spPr>
          <a:xfrm>
            <a:off x="5806440" y="46177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4800600"/>
            <a:ext cx="10607040" cy="749808"/>
          </a:xfrm>
          <a:prstGeom prst="roundRect">
            <a:avLst>
              <a:gd name="adj" fmla="val 12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7A4F10"/>
                </a:solidFill>
                <a:latin typeface="Calibri"/>
              </a:rPr>
              <a:t>Pillar 3 — Big Data</a:t>
            </a:r>
          </a:p>
          <a:p>
            <a:pPr>
              <a:spcBef>
                <a:spcPts val="200"/>
              </a:spcBef>
            </a:pPr>
            <a:r>
              <a:rPr sz="1150" b="0" i="0">
                <a:solidFill>
                  <a:srgbClr val="4A5063"/>
                </a:solidFill>
                <a:latin typeface="Calibri"/>
              </a:rPr>
              <a:t>Spark: 5 tables   ·   Kafka: producer → topic → consumer → routing   ·   Airflow: extract → DQ GATE → transform → load → report</a:t>
            </a:r>
          </a:p>
        </p:txBody>
      </p:sp>
      <p:sp>
        <p:nvSpPr>
          <p:cNvPr id="12" name="Down Arrow 11"/>
          <p:cNvSpPr/>
          <p:nvPr/>
        </p:nvSpPr>
        <p:spPr>
          <a:xfrm>
            <a:off x="5806440" y="55321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5715000"/>
            <a:ext cx="10607040" cy="749808"/>
          </a:xfrm>
          <a:prstGeom prst="roundRect">
            <a:avLst>
              <a:gd name="adj" fmla="val 12000"/>
            </a:avLst>
          </a:prstGeom>
          <a:solidFill>
            <a:srgbClr val="DCEC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2C766E"/>
                </a:solidFill>
                <a:latin typeface="Calibri"/>
              </a:rPr>
              <a:t>Pillar 4 — Infra &amp; Governance</a:t>
            </a:r>
          </a:p>
          <a:p>
            <a:pPr>
              <a:spcBef>
                <a:spcPts val="200"/>
              </a:spcBef>
            </a:pPr>
            <a:r>
              <a:rPr sz="1150" b="0" i="0">
                <a:solidFill>
                  <a:srgbClr val="4A5063"/>
                </a:solidFill>
                <a:latin typeface="Calibri"/>
              </a:rPr>
              <a:t>Dockerised ETL   ·   configurable DQ framework (9 checks)   ·   governance doc (PII, retention, access, lineage)</a:t>
            </a:r>
          </a:p>
        </p:txBody>
      </p:sp>
      <p:sp>
        <p:nvSpPr>
          <p:cNvPr id="14" name="TextBox 13"/>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5" name="TextBox 14"/>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1</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1</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Foundations</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Clean the raw exports, detect data quality issues across every row, and build the warehouse's hardest piece: dim_employee as true SCD Type 2.</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1.1 — Clean/transform projects.csv → 500 rows, 17 cols. risk_level spread: 188 High / 145 Medium / 167 Low.</a:t>
            </a:r>
          </a:p>
          <a:p>
            <a:pPr algn="l">
              <a:spcBef>
                <a:spcPts val="0"/>
              </a:spcBef>
              <a:spcAft>
                <a:spcPts val="1000"/>
              </a:spcAft>
            </a:pPr>
            <a:r>
              <a:rPr sz="1350" b="0" i="0">
                <a:solidFill>
                  <a:srgbClr val="E8E9F0"/>
                </a:solidFill>
                <a:latin typeface="Calibri"/>
              </a:rPr>
              <a:t>—  1.2 — Star schema + dim_employee SCD2 → 2,232 versions. 0 duplicate-current rows, 0 overlapping periods.</a:t>
            </a:r>
          </a:p>
          <a:p>
            <a:pPr algn="l">
              <a:spcBef>
                <a:spcPts val="0"/>
              </a:spcBef>
              <a:spcAft>
                <a:spcPts val="1000"/>
              </a:spcAft>
            </a:pPr>
            <a:r>
              <a:rPr sz="1350" b="0" i="0">
                <a:solidFill>
                  <a:srgbClr val="E8E9F0"/>
                </a:solidFill>
                <a:latin typeface="Calibri"/>
              </a:rPr>
              <a:t>—  1.3 — Employee DQ detection across 6 issue categories, found only by checking every row, not the first 40.</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03 · PILLAR 1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Foundations — Warehouse &amp; DQ Output</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01_foundations/etl_pipeline.py
01_foundations/data_model.sql</a:t>
            </a:r>
          </a:p>
          <a:p>
            <a:pPr algn="l">
              <a:spcBef>
                <a:spcPts val="0"/>
              </a:spcBef>
              <a:spcAft>
                <a:spcPts val="1200"/>
              </a:spcAft>
            </a:pPr>
            <a:r>
              <a:rPr sz="1400" b="0" i="0">
                <a:solidFill>
                  <a:srgbClr val="171A24"/>
                </a:solidFill>
                <a:latin typeface="Calibri"/>
              </a:rPr>
              <a:t/>
            </a:r>
            <a:r>
              <a:rPr sz="1000" b="1" i="0">
                <a:solidFill>
                  <a:srgbClr val="878DA0"/>
                </a:solidFill>
                <a:latin typeface="Consolas"/>
              </a:rPr>
              <a:t>PROJECTS_CLEAN.CSV
</a:t>
            </a:r>
            <a:r>
              <a:rPr sz="1250" b="0" i="0">
                <a:solidFill>
                  <a:srgbClr val="4A5063"/>
                </a:solidFill>
                <a:latin typeface="Calibri"/>
              </a:rPr>
              <a:t>500 rows, 17 columns</a:t>
            </a:r>
          </a:p>
          <a:p>
            <a:pPr algn="l">
              <a:spcBef>
                <a:spcPts val="0"/>
              </a:spcBef>
              <a:spcAft>
                <a:spcPts val="1200"/>
              </a:spcAft>
            </a:pPr>
            <a:r>
              <a:rPr sz="1400" b="0" i="0">
                <a:solidFill>
                  <a:srgbClr val="171A24"/>
                </a:solidFill>
                <a:latin typeface="Calibri"/>
              </a:rPr>
              <a:t/>
            </a:r>
            <a:r>
              <a:rPr sz="1000" b="1" i="0">
                <a:solidFill>
                  <a:srgbClr val="878DA0"/>
                </a:solidFill>
                <a:latin typeface="Consolas"/>
              </a:rPr>
              <a:t>EMPLOYEES_CLEAN.CSV
</a:t>
            </a:r>
            <a:r>
              <a:rPr sz="1250" b="0" i="0">
                <a:solidFill>
                  <a:srgbClr val="4A5063"/>
                </a:solidFill>
                <a:latin typeface="Calibri"/>
              </a:rPr>
              <a:t>1,000 rows, 13 columns</a:t>
            </a:r>
          </a:p>
          <a:p>
            <a:pPr algn="l">
              <a:spcBef>
                <a:spcPts val="0"/>
              </a:spcBef>
              <a:spcAft>
                <a:spcPts val="1200"/>
              </a:spcAft>
            </a:pPr>
            <a:r>
              <a:rPr sz="1400" b="0" i="0">
                <a:solidFill>
                  <a:srgbClr val="171A24"/>
                </a:solidFill>
                <a:latin typeface="Calibri"/>
              </a:rPr>
              <a:t/>
            </a:r>
            <a:r>
              <a:rPr sz="1000" b="1" i="0">
                <a:solidFill>
                  <a:srgbClr val="878DA0"/>
                </a:solidFill>
                <a:latin typeface="Consolas"/>
              </a:rPr>
              <a:t>DIM_EMPLOYEE (SCD2)
</a:t>
            </a:r>
            <a:r>
              <a:rPr sz="1250" b="0" i="0">
                <a:solidFill>
                  <a:srgbClr val="4A5063"/>
                </a:solidFill>
                <a:latin typeface="Calibri"/>
              </a:rPr>
              <a:t>2,232 versions · 0 duplicate-current · 0 overlaps</a:t>
            </a:r>
          </a:p>
          <a:p>
            <a:pPr algn="l">
              <a:spcBef>
                <a:spcPts val="0"/>
              </a:spcBef>
              <a:spcAft>
                <a:spcPts val="1200"/>
              </a:spcAft>
            </a:pPr>
            <a:r>
              <a:rPr sz="1400" b="0" i="0">
                <a:solidFill>
                  <a:srgbClr val="171A24"/>
                </a:solidFill>
                <a:latin typeface="Calibri"/>
              </a:rPr>
              <a:t/>
            </a:r>
            <a:r>
              <a:rPr sz="1000" b="1" i="0">
                <a:solidFill>
                  <a:srgbClr val="878DA0"/>
                </a:solidFill>
                <a:latin typeface="Consolas"/>
              </a:rPr>
              <a:t>RUNTIME
</a:t>
            </a:r>
            <a:r>
              <a:rPr sz="1250" b="0" i="0">
                <a:solidFill>
                  <a:srgbClr val="4A5063"/>
                </a:solidFill>
                <a:latin typeface="Calibri"/>
              </a:rPr>
              <a:t>0.29s pipeline (target &lt;30s) — PASS</a:t>
            </a:r>
          </a:p>
        </p:txBody>
      </p:sp>
      <p:sp>
        <p:nvSpPr>
          <p:cNvPr id="5" name="Rectangle 4"/>
          <p:cNvSpPr/>
          <p:nvPr/>
        </p:nvSpPr>
        <p:spPr>
          <a:xfrm>
            <a:off x="5074920" y="1600200"/>
            <a:ext cx="6172200" cy="4160520"/>
          </a:xfrm>
          <a:prstGeom prst="rect">
            <a:avLst/>
          </a:prstGeom>
          <a:solidFill>
            <a:srgbClr val="EEEFF3"/>
          </a:solidFill>
          <a:ln w="15875">
            <a:solidFill>
              <a:srgbClr val="878D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0" i="0">
                <a:solidFill>
                  <a:srgbClr val="878DA0"/>
                </a:solidFill>
                <a:latin typeface="Calibri"/>
              </a:rPr>
              <a:t>▢</a:t>
            </a:r>
          </a:p>
          <a:p>
            <a:pPr algn="ctr">
              <a:spcBef>
                <a:spcPts val="800"/>
              </a:spcBef>
            </a:pPr>
            <a:r>
              <a:rPr sz="1300" b="0" i="1">
                <a:solidFill>
                  <a:srgbClr val="878DA0"/>
                </a:solidFill>
                <a:latin typeface="Calibri"/>
              </a:rPr>
              <a:t>Insert screenshot here
(e.g. dim_employee validation query result / DuckDB CLI)</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outputs/presight_warehouse.duckdb — Section 1 validation queries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2</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2</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SQL &amp; Visualization</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Six business questions against the warehouse, the canonical transactions ETL, an honestly-reported optimisation exercise, and a Power BI dashboard wired to the same clean files everything else uses.</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2.1 — Six business questions: Q1(1) · Q2(0) · Q3(0) · Q4(435) · Q5(726) · Q6(20) rows. Q2/Q3 verified empty, not buggy.</a:t>
            </a:r>
          </a:p>
          <a:p>
            <a:pPr algn="l">
              <a:spcBef>
                <a:spcPts val="0"/>
              </a:spcBef>
              <a:spcAft>
                <a:spcPts val="1000"/>
              </a:spcAft>
            </a:pPr>
            <a:r>
              <a:rPr sz="1350" b="0" i="0">
                <a:solidFill>
                  <a:srgbClr val="E8E9F0"/>
                </a:solidFill>
                <a:latin typeface="Calibri"/>
              </a:rPr>
              <a:t>—  2.2 — Full ETL: transactions_clean.csv, 50,000 rows, 18 cols. Ran in 0.84s vs 30s target.</a:t>
            </a:r>
          </a:p>
          <a:p>
            <a:pPr algn="l">
              <a:spcBef>
                <a:spcPts val="0"/>
              </a:spcBef>
              <a:spcAft>
                <a:spcPts val="1000"/>
              </a:spcAft>
            </a:pPr>
            <a:r>
              <a:rPr sz="1350" b="0" i="0">
                <a:solidFill>
                  <a:srgbClr val="E8E9F0"/>
                </a:solidFill>
                <a:latin typeface="Calibri"/>
              </a:rPr>
              <a:t>—  2.3 — Query optimisation: 923 rows both versions, 6.03ms → 5.86ms (~1.03x) — reported honestly, no inflated win.</a:t>
            </a:r>
          </a:p>
          <a:p>
            <a:pPr algn="l">
              <a:spcBef>
                <a:spcPts val="0"/>
              </a:spcBef>
              <a:spcAft>
                <a:spcPts val="1000"/>
              </a:spcAft>
            </a:pPr>
            <a:r>
              <a:rPr sz="1350" b="0" i="0">
                <a:solidFill>
                  <a:srgbClr val="E8E9F0"/>
                </a:solidFill>
                <a:latin typeface="Calibri"/>
              </a:rPr>
              <a:t>—  2.4 — Power BI executive dashboard, connected directly to the clean CSVs — no separate copy to drift out of sync.</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04 · PILLAR 2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SQL &amp; Visualization — Executive Dashboard</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
</a:t>
            </a:r>
            <a:r>
              <a:rPr sz="1250" b="0" i="0">
                <a:solidFill>
                  <a:srgbClr val="4A5063"/>
                </a:solidFill>
                <a:latin typeface="Calibri"/>
              </a:rPr>
              <a:t>02_sql_and_viz/etl_full.py
02_sql_and_viz/queries.sql</a:t>
            </a:r>
          </a:p>
          <a:p>
            <a:pPr algn="l">
              <a:spcBef>
                <a:spcPts val="0"/>
              </a:spcBef>
              <a:spcAft>
                <a:spcPts val="1200"/>
              </a:spcAft>
            </a:pPr>
            <a:r>
              <a:rPr sz="1400" b="0" i="0">
                <a:solidFill>
                  <a:srgbClr val="171A24"/>
                </a:solidFill>
                <a:latin typeface="Calibri"/>
              </a:rPr>
              <a:t/>
            </a:r>
            <a:r>
              <a:rPr sz="1000" b="1" i="0">
                <a:solidFill>
                  <a:srgbClr val="878DA0"/>
                </a:solidFill>
                <a:latin typeface="Consolas"/>
              </a:rPr>
              <a:t>DASHBOARD
</a:t>
            </a:r>
            <a:r>
              <a:rPr sz="1250" b="0" i="0">
                <a:solidFill>
                  <a:srgbClr val="4A5063"/>
                </a:solidFill>
                <a:latin typeface="Calibri"/>
              </a:rPr>
              <a:t>presight_dashboard.pbix</a:t>
            </a:r>
          </a:p>
          <a:p>
            <a:pPr algn="l">
              <a:spcBef>
                <a:spcPts val="0"/>
              </a:spcBef>
              <a:spcAft>
                <a:spcPts val="1200"/>
              </a:spcAft>
            </a:pPr>
            <a:r>
              <a:rPr sz="1400" b="0" i="0">
                <a:solidFill>
                  <a:srgbClr val="171A24"/>
                </a:solidFill>
                <a:latin typeface="Calibri"/>
              </a:rPr>
              <a:t/>
            </a:r>
            <a:r>
              <a:rPr sz="1000" b="1" i="0">
                <a:solidFill>
                  <a:srgbClr val="878DA0"/>
                </a:solidFill>
                <a:latin typeface="Consolas"/>
              </a:rPr>
              <a:t>DATA SOURCE
</a:t>
            </a:r>
            <a:r>
              <a:rPr sz="1250" b="0" i="0">
                <a:solidFill>
                  <a:srgbClr val="4A5063"/>
                </a:solidFill>
                <a:latin typeface="Calibri"/>
              </a:rPr>
              <a:t>projects_clean.csv + transactions_clean.csv (direct connection)</a:t>
            </a:r>
          </a:p>
          <a:p>
            <a:pPr algn="l">
              <a:spcBef>
                <a:spcPts val="0"/>
              </a:spcBef>
              <a:spcAft>
                <a:spcPts val="1200"/>
              </a:spcAft>
            </a:pPr>
            <a:r>
              <a:rPr sz="1400" b="0" i="0">
                <a:solidFill>
                  <a:srgbClr val="171A24"/>
                </a:solidFill>
                <a:latin typeface="Calibri"/>
              </a:rPr>
              <a:t/>
            </a:r>
            <a:r>
              <a:rPr sz="1000" b="1" i="0">
                <a:solidFill>
                  <a:srgbClr val="878DA0"/>
                </a:solidFill>
                <a:latin typeface="Consolas"/>
              </a:rPr>
              <a:t>BUSINESS QUESTIONS
</a:t>
            </a:r>
            <a:r>
              <a:rPr sz="1250" b="0" i="0">
                <a:solidFill>
                  <a:srgbClr val="4A5063"/>
                </a:solidFill>
                <a:latin typeface="Calibri"/>
              </a:rPr>
              <a:t>6 / 6 complete — real result rows</a:t>
            </a:r>
          </a:p>
          <a:p>
            <a:pPr algn="l">
              <a:spcBef>
                <a:spcPts val="0"/>
              </a:spcBef>
              <a:spcAft>
                <a:spcPts val="1200"/>
              </a:spcAft>
            </a:pPr>
            <a:r>
              <a:rPr sz="1400" b="0" i="0">
                <a:solidFill>
                  <a:srgbClr val="171A24"/>
                </a:solidFill>
                <a:latin typeface="Calibri"/>
              </a:rPr>
              <a:t/>
            </a:r>
            <a:r>
              <a:rPr sz="1000" b="1" i="0">
                <a:solidFill>
                  <a:srgbClr val="878DA0"/>
                </a:solidFill>
                <a:latin typeface="Consolas"/>
              </a:rPr>
              <a:t>RUNTIME
</a:t>
            </a:r>
            <a:r>
              <a:rPr sz="1250" b="0" i="0">
                <a:solidFill>
                  <a:srgbClr val="4A5063"/>
                </a:solidFill>
                <a:latin typeface="Calibri"/>
              </a:rPr>
              <a:t>0.84s ETL (target &lt;30s) — PASS</a:t>
            </a:r>
          </a:p>
        </p:txBody>
      </p:sp>
      <p:sp>
        <p:nvSpPr>
          <p:cNvPr id="5" name="Rectangle 4"/>
          <p:cNvSpPr/>
          <p:nvPr/>
        </p:nvSpPr>
        <p:spPr>
          <a:xfrm>
            <a:off x="5074920" y="1600200"/>
            <a:ext cx="6172200" cy="4160520"/>
          </a:xfrm>
          <a:prstGeom prst="rect">
            <a:avLst/>
          </a:prstGeom>
          <a:solidFill>
            <a:srgbClr val="EEEFF3"/>
          </a:solidFill>
          <a:ln w="15875">
            <a:solidFill>
              <a:srgbClr val="878D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0" i="0">
                <a:solidFill>
                  <a:srgbClr val="878DA0"/>
                </a:solidFill>
                <a:latin typeface="Calibri"/>
              </a:rPr>
              <a:t>▢</a:t>
            </a:r>
          </a:p>
          <a:p>
            <a:pPr algn="ctr">
              <a:spcBef>
                <a:spcPts val="800"/>
              </a:spcBef>
            </a:pPr>
            <a:r>
              <a:rPr sz="1300" b="0" i="1">
                <a:solidFill>
                  <a:srgbClr val="878DA0"/>
                </a:solidFill>
                <a:latin typeface="Calibri"/>
              </a:rPr>
              <a:t>Insert Power BI dashboard screenshot here</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outputs/results/baiju_mohan/02_sql_and_viz/presight_dashboard.pbix</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3</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3</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Big Data Processing</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Batch processing of 100K events with Spark, a Kafka producer/consumer for streaming ingestion, and an Airflow DAG that provably enforces its own data-quality gate.</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3.1 — Spark: 99,996 events → 5 summary tables. 82.80s, ~1,208 events/sec. Escalation matching fixed from position- to time-based.</a:t>
            </a:r>
          </a:p>
          <a:p>
            <a:pPr algn="l">
              <a:spcBef>
                <a:spcPts val="0"/>
              </a:spcBef>
              <a:spcAft>
                <a:spcPts val="1000"/>
              </a:spcAft>
            </a:pPr>
            <a:r>
              <a:rPr sz="1350" b="0" i="0">
                <a:solidFill>
                  <a:srgbClr val="E8E9F0"/>
                </a:solidFill>
                <a:latin typeface="Calibri"/>
              </a:rPr>
              <a:t>—  3.2 — Kafka: 8,333 sent / 8,333 received, 0 lost. 14 Critical escalations forwarded, ~586 msg/sec.</a:t>
            </a:r>
          </a:p>
          <a:p>
            <a:pPr algn="l">
              <a:spcBef>
                <a:spcPts val="0"/>
              </a:spcBef>
              <a:spcAft>
                <a:spcPts val="1000"/>
              </a:spcAft>
            </a:pPr>
            <a:r>
              <a:rPr sz="1350" b="0" i="0">
                <a:solidFill>
                  <a:srgbClr val="E8E9F0"/>
                </a:solidFill>
                <a:latin typeface="Calibri"/>
              </a:rPr>
              <a:t>—  3.3 — Airflow DAG (presight_etl_pipeline, daily 06:00 Dubai): ~21s run. DQ gate tested by forcing failure on purpose.</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05 · PILLAR 3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Big Data — Spark, Kafka &amp; Airflow</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03_big_data/spark_pipeline.py
kafka_streaming.py · airflow_dag.py</a:t>
            </a:r>
          </a:p>
          <a:p>
            <a:pPr algn="l">
              <a:spcBef>
                <a:spcPts val="0"/>
              </a:spcBef>
              <a:spcAft>
                <a:spcPts val="1200"/>
              </a:spcAft>
            </a:pPr>
            <a:r>
              <a:rPr sz="1400" b="0" i="0">
                <a:solidFill>
                  <a:srgbClr val="171A24"/>
                </a:solidFill>
                <a:latin typeface="Calibri"/>
              </a:rPr>
              <a:t/>
            </a:r>
            <a:r>
              <a:rPr sz="1000" b="1" i="0">
                <a:solidFill>
                  <a:srgbClr val="878DA0"/>
                </a:solidFill>
                <a:latin typeface="Consolas"/>
              </a:rPr>
              <a:t>SPARK TABLES
</a:t>
            </a:r>
            <a:r>
              <a:rPr sz="1250" b="0" i="0">
                <a:solidFill>
                  <a:srgbClr val="4A5063"/>
                </a:solidFill>
                <a:latin typeface="Calibri"/>
              </a:rPr>
              <a:t>5 Parquet tables, 99,996 rows total</a:t>
            </a:r>
          </a:p>
          <a:p>
            <a:pPr algn="l">
              <a:spcBef>
                <a:spcPts val="0"/>
              </a:spcBef>
              <a:spcAft>
                <a:spcPts val="1200"/>
              </a:spcAft>
            </a:pPr>
            <a:r>
              <a:rPr sz="1400" b="0" i="0">
                <a:solidFill>
                  <a:srgbClr val="171A24"/>
                </a:solidFill>
                <a:latin typeface="Calibri"/>
              </a:rPr>
              <a:t/>
            </a:r>
            <a:r>
              <a:rPr sz="1000" b="1" i="0">
                <a:solidFill>
                  <a:srgbClr val="878DA0"/>
                </a:solidFill>
                <a:latin typeface="Consolas"/>
              </a:rPr>
              <a:t>KAFKA
</a:t>
            </a:r>
            <a:r>
              <a:rPr sz="1250" b="0" i="0">
                <a:solidFill>
                  <a:srgbClr val="4A5063"/>
                </a:solidFill>
                <a:latin typeface="Calibri"/>
              </a:rPr>
              <a:t>8,333 / 8,333 consumed · 14 escalations routed</a:t>
            </a:r>
          </a:p>
          <a:p>
            <a:pPr algn="l">
              <a:spcBef>
                <a:spcPts val="0"/>
              </a:spcBef>
              <a:spcAft>
                <a:spcPts val="1200"/>
              </a:spcAft>
            </a:pPr>
            <a:r>
              <a:rPr sz="1400" b="0" i="0">
                <a:solidFill>
                  <a:srgbClr val="171A24"/>
                </a:solidFill>
                <a:latin typeface="Calibri"/>
              </a:rPr>
              <a:t/>
            </a:r>
            <a:r>
              <a:rPr sz="1000" b="1" i="0">
                <a:solidFill>
                  <a:srgbClr val="878DA0"/>
                </a:solidFill>
                <a:latin typeface="Consolas"/>
              </a:rPr>
              <a:t>AIRFLOW
</a:t>
            </a:r>
            <a:r>
              <a:rPr sz="1250" b="0" i="0">
                <a:solidFill>
                  <a:srgbClr val="4A5063"/>
                </a:solidFill>
                <a:latin typeface="Calibri"/>
              </a:rPr>
              <a:t>presight_etl_pipeline — runs green, DQ gate proven to block</a:t>
            </a:r>
          </a:p>
        </p:txBody>
      </p:sp>
      <p:sp>
        <p:nvSpPr>
          <p:cNvPr id="5" name="Rectangle 4"/>
          <p:cNvSpPr/>
          <p:nvPr/>
        </p:nvSpPr>
        <p:spPr>
          <a:xfrm>
            <a:off x="5074920" y="1600200"/>
            <a:ext cx="6172200" cy="4160520"/>
          </a:xfrm>
          <a:prstGeom prst="rect">
            <a:avLst/>
          </a:prstGeom>
          <a:solidFill>
            <a:srgbClr val="EEEFF3"/>
          </a:solidFill>
          <a:ln w="15875">
            <a:solidFill>
              <a:srgbClr val="878D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0" i="0">
                <a:solidFill>
                  <a:srgbClr val="878DA0"/>
                </a:solidFill>
                <a:latin typeface="Calibri"/>
              </a:rPr>
              <a:t>▢</a:t>
            </a:r>
          </a:p>
          <a:p>
            <a:pPr algn="ctr">
              <a:spcBef>
                <a:spcPts val="800"/>
              </a:spcBef>
            </a:pPr>
            <a:r>
              <a:rPr sz="1300" b="0" i="1">
                <a:solidFill>
                  <a:srgbClr val="878DA0"/>
                </a:solidFill>
                <a:latin typeface="Calibri"/>
              </a:rPr>
              <a:t>Insert screenshot here
(e.g. Airflow DAG graph view / Kafka UI topics)</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Airflow UI (localhost:8081) or Kafka UI (localhost:8080)</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4</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4</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Infrastructure &amp; Governance</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Containerise the pipeline, document how the data is governed, and build a reusable data-quality framework that the Airflow gate actually calls into.</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4.1 — Docker: two-stage build, 11.1s runtime vs 30s target. Keeps Airflow's unneeded deps out of the image.</a:t>
            </a:r>
          </a:p>
          <a:p>
            <a:pPr algn="l">
              <a:spcBef>
                <a:spcPts val="0"/>
              </a:spcBef>
              <a:spcAft>
                <a:spcPts val="1000"/>
              </a:spcAft>
            </a:pPr>
            <a:r>
              <a:rPr sz="1350" b="0" i="0">
                <a:solidFill>
                  <a:srgbClr val="E8E9F0"/>
                </a:solidFill>
                <a:latin typeface="Calibri"/>
              </a:rPr>
              <a:t>—  4.2 — Governance doc: PII classification (GDPR/UAE PDPL), ownership, retention, least-privilege access.</a:t>
            </a:r>
          </a:p>
          <a:p>
            <a:pPr algn="l">
              <a:spcBef>
                <a:spcPts val="0"/>
              </a:spcBef>
              <a:spcAft>
                <a:spcPts val="1000"/>
              </a:spcAft>
            </a:pPr>
            <a:r>
              <a:rPr sz="1350" b="0" i="0">
                <a:solidFill>
                  <a:srgbClr val="E8E9F0"/>
                </a:solidFill>
                <a:latin typeface="Calibri"/>
              </a:rPr>
              <a:t>—  4.3 — DQ framework: 9 checks, config-driven. Run against real uncleaned data — genuine 6/9, 3/9, 6/9 results.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06 · PILLAR 4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Infrastructure — Container &amp; Data Quality</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Dockerfile (repo root)
04_infrastructure/dq_framework.py</a:t>
            </a:r>
          </a:p>
          <a:p>
            <a:pPr algn="l">
              <a:spcBef>
                <a:spcPts val="0"/>
              </a:spcBef>
              <a:spcAft>
                <a:spcPts val="1200"/>
              </a:spcAft>
            </a:pPr>
            <a:r>
              <a:rPr sz="1400" b="0" i="0">
                <a:solidFill>
                  <a:srgbClr val="171A24"/>
                </a:solidFill>
                <a:latin typeface="Calibri"/>
              </a:rPr>
              <a:t/>
            </a:r>
            <a:r>
              <a:rPr sz="1000" b="1" i="0">
                <a:solidFill>
                  <a:srgbClr val="878DA0"/>
                </a:solidFill>
                <a:latin typeface="Consolas"/>
              </a:rPr>
              <a:t>CONTAINER RUNTIME
</a:t>
            </a:r>
            <a:r>
              <a:rPr sz="1250" b="0" i="0">
                <a:solidFill>
                  <a:srgbClr val="4A5063"/>
                </a:solidFill>
                <a:latin typeface="Calibri"/>
              </a:rPr>
              <a:t>11.1s (target &lt;30s) — PASS</a:t>
            </a:r>
          </a:p>
          <a:p>
            <a:pPr algn="l">
              <a:spcBef>
                <a:spcPts val="0"/>
              </a:spcBef>
              <a:spcAft>
                <a:spcPts val="1200"/>
              </a:spcAft>
            </a:pPr>
            <a:r>
              <a:rPr sz="1400" b="0" i="0">
                <a:solidFill>
                  <a:srgbClr val="171A24"/>
                </a:solidFill>
                <a:latin typeface="Calibri"/>
              </a:rPr>
              <a:t/>
            </a:r>
            <a:r>
              <a:rPr sz="1000" b="1" i="0">
                <a:solidFill>
                  <a:srgbClr val="878DA0"/>
                </a:solidFill>
                <a:latin typeface="Consolas"/>
              </a:rPr>
              <a:t>DQ REPORTS
</a:t>
            </a:r>
            <a:r>
              <a:rPr sz="1250" b="0" i="0">
                <a:solidFill>
                  <a:srgbClr val="4A5063"/>
                </a:solidFill>
                <a:latin typeface="Calibri"/>
              </a:rPr>
              <a:t>dq_report_projects/employees/transactions.md</a:t>
            </a:r>
          </a:p>
          <a:p>
            <a:pPr algn="l">
              <a:spcBef>
                <a:spcPts val="0"/>
              </a:spcBef>
              <a:spcAft>
                <a:spcPts val="1200"/>
              </a:spcAft>
            </a:pPr>
            <a:r>
              <a:rPr sz="1400" b="0" i="0">
                <a:solidFill>
                  <a:srgbClr val="171A24"/>
                </a:solidFill>
                <a:latin typeface="Calibri"/>
              </a:rPr>
              <a:t/>
            </a:r>
            <a:r>
              <a:rPr sz="1000" b="1" i="0">
                <a:solidFill>
                  <a:srgbClr val="878DA0"/>
                </a:solidFill>
                <a:latin typeface="Consolas"/>
              </a:rPr>
              <a:t>GOVERNANCE
</a:t>
            </a:r>
            <a:r>
              <a:rPr sz="1250" b="0" i="0">
                <a:solidFill>
                  <a:srgbClr val="4A5063"/>
                </a:solidFill>
                <a:latin typeface="Calibri"/>
              </a:rPr>
              <a:t>data_governance_document.md — 4 datasets classified</a:t>
            </a:r>
          </a:p>
        </p:txBody>
      </p:sp>
      <p:sp>
        <p:nvSpPr>
          <p:cNvPr id="5" name="Rectangle 4"/>
          <p:cNvSpPr/>
          <p:nvPr/>
        </p:nvSpPr>
        <p:spPr>
          <a:xfrm>
            <a:off x="5074920" y="1600200"/>
            <a:ext cx="6172200" cy="4160520"/>
          </a:xfrm>
          <a:prstGeom prst="rect">
            <a:avLst/>
          </a:prstGeom>
          <a:solidFill>
            <a:srgbClr val="EEEFF3"/>
          </a:solidFill>
          <a:ln w="15875">
            <a:solidFill>
              <a:srgbClr val="878D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0" i="0">
                <a:solidFill>
                  <a:srgbClr val="878DA0"/>
                </a:solidFill>
                <a:latin typeface="Calibri"/>
              </a:rPr>
              <a:t>▢</a:t>
            </a:r>
          </a:p>
          <a:p>
            <a:pPr algn="ctr">
              <a:spcBef>
                <a:spcPts val="800"/>
              </a:spcBef>
            </a:pPr>
            <a:r>
              <a:rPr sz="1300" b="0" i="1">
                <a:solidFill>
                  <a:srgbClr val="878DA0"/>
                </a:solidFill>
                <a:latin typeface="Calibri"/>
              </a:rPr>
              <a:t>Insert screenshot here
(e.g. docker build/run output, or a DQ report excerpt)</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outputs/results/baiju_mohan/04_infrastructure/</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07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Key Engineering Decisions</a:t>
            </a:r>
          </a:p>
        </p:txBody>
      </p:sp>
      <p:sp>
        <p:nvSpPr>
          <p:cNvPr id="4" name="Rounded Rectangle 3"/>
          <p:cNvSpPr/>
          <p:nvPr/>
        </p:nvSpPr>
        <p:spPr>
          <a:xfrm>
            <a:off x="640080" y="1600200"/>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SCD Type 2 as the foundation, not an afterthought</a:t>
            </a:r>
          </a:p>
          <a:p>
            <a:pPr>
              <a:spcBef>
                <a:spcPts val="300"/>
              </a:spcBef>
            </a:pPr>
            <a:r>
              <a:rPr sz="1150" b="0" i="0">
                <a:solidFill>
                  <a:srgbClr val="4A5063"/>
                </a:solidFill>
                <a:latin typeface="Calibri"/>
              </a:rPr>
              <a:t>Once dim_employee versions salary/role/level, fact_transactions resolves "who approved this, and what was true about them then" via a point-in-time BETWEEN match — everything needing historical accuracy depends on this.</a:t>
            </a:r>
          </a:p>
        </p:txBody>
      </p:sp>
      <p:sp>
        <p:nvSpPr>
          <p:cNvPr id="5" name="Rounded Rectangle 4"/>
          <p:cNvSpPr/>
          <p:nvPr/>
        </p:nvSpPr>
        <p:spPr>
          <a:xfrm>
            <a:off x="640080" y="2825496"/>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Vectorisation as a hard rule</a:t>
            </a:r>
          </a:p>
          <a:p>
            <a:pPr>
              <a:spcBef>
                <a:spcPts val="300"/>
              </a:spcBef>
            </a:pPr>
            <a:r>
              <a:rPr sz="1150" b="0" i="0">
                <a:solidFill>
                  <a:srgbClr val="4A5063"/>
                </a:solidFill>
                <a:latin typeface="Calibri"/>
              </a:rPr>
              <a:t>Every DQ check and derived column is a whole-column operation — boolean masks, np.select, window functions instead of self-joins. Non-negotiable at 50,000+ rows to finish in seconds, not minutes.</a:t>
            </a:r>
          </a:p>
        </p:txBody>
      </p:sp>
      <p:sp>
        <p:nvSpPr>
          <p:cNvPr id="6" name="Rounded Rectangle 5"/>
          <p:cNvSpPr/>
          <p:nvPr/>
        </p:nvSpPr>
        <p:spPr>
          <a:xfrm>
            <a:off x="640080" y="4050792"/>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Env-var configuration, built once, reused twice</a:t>
            </a:r>
          </a:p>
          <a:p>
            <a:pPr>
              <a:spcBef>
                <a:spcPts val="300"/>
              </a:spcBef>
            </a:pPr>
            <a:r>
              <a:rPr sz="1150" b="0" i="0">
                <a:solidFill>
                  <a:srgbClr val="4A5063"/>
                </a:solidFill>
                <a:latin typeface="Calibri"/>
              </a:rPr>
              <a:t>DATA_DIR / OUTPUT_DIR solved Airflow's container filesystem layout in Pillar 3 — then solved the identical problem for free in Pillar 4's Docker container.</a:t>
            </a:r>
          </a:p>
        </p:txBody>
      </p:sp>
      <p:sp>
        <p:nvSpPr>
          <p:cNvPr id="7" name="Rounded Rectangle 6"/>
          <p:cNvSpPr/>
          <p:nvPr/>
        </p:nvSpPr>
        <p:spPr>
          <a:xfrm>
            <a:off x="640080" y="5276088"/>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Reported honest results over convenient ones</a:t>
            </a:r>
          </a:p>
          <a:p>
            <a:pPr>
              <a:spcBef>
                <a:spcPts val="300"/>
              </a:spcBef>
            </a:pPr>
            <a:r>
              <a:rPr sz="1150" b="0" i="0">
                <a:solidFill>
                  <a:srgbClr val="4A5063"/>
                </a:solidFill>
                <a:latin typeface="Calibri"/>
              </a:rPr>
              <a:t>No measurable DuckDB speedup, zero-row business questions, real uncleaned-data DQ results — the real number got reported, not the impressive one.</a:t>
            </a:r>
          </a:p>
        </p:txBody>
      </p:sp>
      <p:sp>
        <p:nvSpPr>
          <p:cNvPr id="8" name="TextBox 7"/>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9" name="TextBox 8"/>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08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Bugs &amp; Fixes</a:t>
            </a:r>
          </a:p>
        </p:txBody>
      </p:sp>
      <p:sp>
        <p:nvSpPr>
          <p:cNvPr id="4" name="TextBox 3"/>
          <p:cNvSpPr txBox="1"/>
          <p:nvPr/>
        </p:nvSpPr>
        <p:spPr>
          <a:xfrm>
            <a:off x="640080" y="1371600"/>
            <a:ext cx="10607040" cy="457200"/>
          </a:xfrm>
          <a:prstGeom prst="rect">
            <a:avLst/>
          </a:prstGeom>
          <a:noFill/>
        </p:spPr>
        <p:txBody>
          <a:bodyPr wrap="square" anchor="t" lIns="0" rIns="0" tIns="0" bIns="0">
            <a:spAutoFit/>
          </a:bodyPr>
          <a:lstStyle/>
          <a:p>
            <a:pPr algn="l">
              <a:spcBef>
                <a:spcPts val="0"/>
              </a:spcBef>
              <a:spcAft>
                <a:spcPts val="600"/>
              </a:spcAft>
            </a:pPr>
            <a:r>
              <a:rPr sz="1300" b="0" i="0">
                <a:solidFill>
                  <a:srgbClr val="4A5063"/>
                </a:solidFill>
                <a:latin typeface="Calibri"/>
              </a:rPr>
              <a:t>Four real bugs, none visible from reading the code — only found by running the pipeline against real data and real infrastructure.</a:t>
            </a:r>
          </a:p>
        </p:txBody>
      </p:sp>
      <p:sp>
        <p:nvSpPr>
          <p:cNvPr id="5" name="Rounded Rectangle 4"/>
          <p:cNvSpPr/>
          <p:nvPr/>
        </p:nvSpPr>
        <p:spPr>
          <a:xfrm>
            <a:off x="640080" y="2011680"/>
            <a:ext cx="5166360" cy="192024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3 · AIRFLOW/DOCKER</a:t>
            </a:r>
          </a:p>
          <a:p>
            <a:pPr>
              <a:spcBef>
                <a:spcPts val="300"/>
              </a:spcBef>
            </a:pPr>
            <a:r>
              <a:rPr sz="1300" b="1" i="0">
                <a:solidFill>
                  <a:srgbClr val="171A24"/>
                </a:solidFill>
                <a:latin typeface="Calibri"/>
              </a:rPr>
              <a:t>A calculation broke only inside the container</a:t>
            </a:r>
          </a:p>
          <a:p>
            <a:pPr>
              <a:spcBef>
                <a:spcPts val="400"/>
              </a:spcBef>
            </a:pPr>
            <a:r>
              <a:rPr sz="1080" b="0" i="0">
                <a:solidFill>
                  <a:srgbClr val="4A5063"/>
                </a:solidFill>
                <a:latin typeface="Calibri"/>
              </a:rPr>
              <a:t>Older pandas/numpy in the container handled a dtype differently; np.select failed there — invisible until run inside the real container.</a:t>
            </a:r>
          </a:p>
        </p:txBody>
      </p:sp>
      <p:sp>
        <p:nvSpPr>
          <p:cNvPr id="6" name="Rounded Rectangle 5"/>
          <p:cNvSpPr/>
          <p:nvPr/>
        </p:nvSpPr>
        <p:spPr>
          <a:xfrm>
            <a:off x="5806440" y="2011680"/>
            <a:ext cx="5486400" cy="192024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3 · SPARK</a:t>
            </a:r>
          </a:p>
          <a:p>
            <a:pPr>
              <a:spcBef>
                <a:spcPts val="300"/>
              </a:spcBef>
            </a:pPr>
            <a:r>
              <a:rPr sz="1300" b="1" i="0">
                <a:solidFill>
                  <a:srgbClr val="171A24"/>
                </a:solidFill>
                <a:latin typeface="Calibri"/>
              </a:rPr>
              <a:t>Escalations resolved in −7,708 hours</a:t>
            </a:r>
          </a:p>
          <a:p>
            <a:pPr>
              <a:spcBef>
                <a:spcPts val="400"/>
              </a:spcBef>
            </a:pPr>
            <a:r>
              <a:rPr sz="1080" b="0" i="0">
                <a:solidFill>
                  <a:srgbClr val="4A5063"/>
                </a:solidFill>
                <a:latin typeface="Calibri"/>
              </a:rPr>
              <a:t>Root cause: "raised"/"resolved" events matched by position, not time.</a:t>
            </a:r>
          </a:p>
          <a:p>
            <a:pPr>
              <a:spcBef>
                <a:spcPts val="600"/>
              </a:spcBef>
            </a:pPr>
            <a:r>
              <a:rPr sz="950" b="1" i="0">
                <a:solidFill>
                  <a:srgbClr val="2E7D46"/>
                </a:solidFill>
                <a:latin typeface="Consolas"/>
              </a:rPr>
              <a:t>FIX  </a:t>
            </a:r>
            <a:r>
              <a:rPr sz="1050" b="0" i="0">
                <a:solidFill>
                  <a:srgbClr val="4A5063"/>
                </a:solidFill>
                <a:latin typeface="Calibri"/>
              </a:rPr>
              <a:t>Rewrote to time-based matching. Correctly-matched escalations: 748 → 1,098, zero negatives. (First patch just hid it — discarded 62% as "unresolved".)</a:t>
            </a:r>
          </a:p>
        </p:txBody>
      </p:sp>
      <p:sp>
        <p:nvSpPr>
          <p:cNvPr id="7" name="Rounded Rectangle 6"/>
          <p:cNvSpPr/>
          <p:nvPr/>
        </p:nvSpPr>
        <p:spPr>
          <a:xfrm>
            <a:off x="640080" y="4114800"/>
            <a:ext cx="5166360" cy="1874519"/>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3 · KAFKA</a:t>
            </a:r>
          </a:p>
          <a:p>
            <a:pPr>
              <a:spcBef>
                <a:spcPts val="300"/>
              </a:spcBef>
            </a:pPr>
            <a:r>
              <a:rPr sz="1300" b="1" i="0">
                <a:solidFill>
                  <a:srgbClr val="171A24"/>
                </a:solidFill>
                <a:latin typeface="Calibri"/>
              </a:rPr>
              <a:t>A forwarding bug only visible partway through a run</a:t>
            </a:r>
          </a:p>
          <a:p>
            <a:pPr>
              <a:spcBef>
                <a:spcPts val="400"/>
              </a:spcBef>
            </a:pPr>
            <a:r>
              <a:rPr sz="1080" b="0" i="0">
                <a:solidFill>
                  <a:srgbClr val="4A5063"/>
                </a:solidFill>
                <a:latin typeface="Calibri"/>
              </a:rPr>
              <a:t>Messages were double-encoded before sending — surfaced only around message 5,700 of 8,333. A short smoke test would have missed it entirely.</a:t>
            </a:r>
          </a:p>
        </p:txBody>
      </p:sp>
      <p:sp>
        <p:nvSpPr>
          <p:cNvPr id="8" name="Rounded Rectangle 7"/>
          <p:cNvSpPr/>
          <p:nvPr/>
        </p:nvSpPr>
        <p:spPr>
          <a:xfrm>
            <a:off x="5806440" y="4114800"/>
            <a:ext cx="5486400" cy="1874519"/>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1 · FOUNDATIONS</a:t>
            </a:r>
          </a:p>
          <a:p>
            <a:pPr>
              <a:spcBef>
                <a:spcPts val="300"/>
              </a:spcBef>
            </a:pPr>
            <a:r>
              <a:rPr sz="1300" b="1" i="0">
                <a:solidFill>
                  <a:srgbClr val="171A24"/>
                </a:solidFill>
                <a:latin typeface="Calibri"/>
              </a:rPr>
              <a:t>No hire date AND no salary history for some employees</a:t>
            </a:r>
          </a:p>
          <a:p>
            <a:pPr>
              <a:spcBef>
                <a:spcPts val="400"/>
              </a:spcBef>
            </a:pPr>
            <a:r>
              <a:rPr sz="1080" b="0" i="0">
                <a:solidFill>
                  <a:srgbClr val="4A5063"/>
                </a:solidFill>
                <a:latin typeface="Calibri"/>
              </a:rPr>
              <a:t>Both fields normally derive the SCD2 starting record date — this group had nothing to fall back on; used a documented 1900-01-01 placeholder instead of a null that breaks validation.</a:t>
            </a:r>
          </a:p>
        </p:txBody>
      </p:sp>
      <p:sp>
        <p:nvSpPr>
          <p:cNvPr id="9" name="TextBox 8"/>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0" name="TextBox 9"/>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08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Discipline, Not Just Debugging</a:t>
            </a:r>
          </a:p>
        </p:txBody>
      </p:sp>
      <p:sp>
        <p:nvSpPr>
          <p:cNvPr id="4" name="Rounded Rectangle 3"/>
          <p:cNvSpPr/>
          <p:nvPr/>
        </p:nvSpPr>
        <p:spPr>
          <a:xfrm>
            <a:off x="640080" y="1691640"/>
            <a:ext cx="10607040" cy="182880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DISCIPLINE</a:t>
            </a:r>
          </a:p>
          <a:p>
            <a:pPr>
              <a:spcBef>
                <a:spcPts val="300"/>
              </a:spcBef>
            </a:pPr>
            <a:r>
              <a:rPr sz="1300" b="1" i="0">
                <a:solidFill>
                  <a:srgbClr val="171A24"/>
                </a:solidFill>
                <a:latin typeface="Calibri"/>
              </a:rPr>
              <a:t>Testing that the safety check actually works</a:t>
            </a:r>
          </a:p>
          <a:p>
            <a:pPr>
              <a:spcBef>
                <a:spcPts val="400"/>
              </a:spcBef>
            </a:pPr>
            <a:r>
              <a:rPr sz="1080" b="0" i="0">
                <a:solidFill>
                  <a:srgbClr val="4A5063"/>
                </a:solidFill>
                <a:latin typeface="Calibri"/>
              </a:rPr>
              <a:t>The Airflow DQ gate is supposed to stop the pipeline when quality drops too low. Rather than trust the code looked right, it was set to an impossible threshold on purpose — confirmed the run actually halted with nothing downstream executing — then reset and confirmed a normal run still passes clean.</a:t>
            </a:r>
          </a:p>
        </p:txBody>
      </p:sp>
      <p:sp>
        <p:nvSpPr>
          <p:cNvPr id="5" name="Rounded Rectangle 4"/>
          <p:cNvSpPr/>
          <p:nvPr/>
        </p:nvSpPr>
        <p:spPr>
          <a:xfrm>
            <a:off x="640080" y="3703320"/>
            <a:ext cx="10607040" cy="182880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4 · PEER REVIEW</a:t>
            </a:r>
          </a:p>
          <a:p>
            <a:pPr>
              <a:spcBef>
                <a:spcPts val="300"/>
              </a:spcBef>
            </a:pPr>
            <a:r>
              <a:rPr sz="1300" b="1" i="0">
                <a:solidFill>
                  <a:srgbClr val="171A24"/>
                </a:solidFill>
                <a:latin typeface="Calibri"/>
              </a:rPr>
              <a:t>Two gaps found by comparing against another trainee's solution</a:t>
            </a:r>
          </a:p>
          <a:p>
            <a:pPr>
              <a:spcBef>
                <a:spcPts val="400"/>
              </a:spcBef>
            </a:pPr>
            <a:r>
              <a:rPr sz="1080" b="0" i="0">
                <a:solidFill>
                  <a:srgbClr val="4A5063"/>
                </a:solidFill>
                <a:latin typeface="Calibri"/>
              </a:rPr>
              <a:t>Not from re-reading my own code: no check that employees.manager_id points to a real employee, and the consistency check never verified salary against level despite the brief using that exact example. Both fixed — the manager_id check found a genuine issue: 5 employees have a manager_id matching no one.</a:t>
            </a:r>
          </a:p>
        </p:txBody>
      </p:sp>
      <p:sp>
        <p:nvSpPr>
          <p:cNvPr id="6" name="TextBox 5"/>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7" name="TextBox 6"/>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TextBox 1"/>
          <p:cNvSpPr txBox="1"/>
          <p:nvPr/>
        </p:nvSpPr>
        <p:spPr>
          <a:xfrm>
            <a:off x="822960" y="685800"/>
            <a:ext cx="54864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09 · CLOSE</a:t>
            </a:r>
          </a:p>
        </p:txBody>
      </p:sp>
      <p:sp>
        <p:nvSpPr>
          <p:cNvPr id="3" name="TextBox 2"/>
          <p:cNvSpPr txBox="1"/>
          <p:nvPr/>
        </p:nvSpPr>
        <p:spPr>
          <a:xfrm>
            <a:off x="822960" y="1188720"/>
            <a:ext cx="10058400" cy="822960"/>
          </a:xfrm>
          <a:prstGeom prst="rect">
            <a:avLst/>
          </a:prstGeom>
          <a:noFill/>
        </p:spPr>
        <p:txBody>
          <a:bodyPr wrap="square" anchor="t" lIns="0" rIns="0" tIns="0" bIns="0">
            <a:spAutoFit/>
          </a:bodyPr>
          <a:lstStyle/>
          <a:p>
            <a:pPr algn="l">
              <a:spcBef>
                <a:spcPts val="0"/>
              </a:spcBef>
              <a:spcAft>
                <a:spcPts val="600"/>
              </a:spcAft>
            </a:pPr>
            <a:r>
              <a:rPr sz="3400" b="1" i="0">
                <a:solidFill>
                  <a:srgbClr val="FFFFFF"/>
                </a:solidFill>
                <a:latin typeface="Georgia"/>
              </a:rPr>
              <a:t>Outcome &amp; Business Value</a:t>
            </a:r>
          </a:p>
        </p:txBody>
      </p:sp>
      <p:sp>
        <p:nvSpPr>
          <p:cNvPr id="4" name="TextBox 3"/>
          <p:cNvSpPr txBox="1"/>
          <p:nvPr/>
        </p:nvSpPr>
        <p:spPr>
          <a:xfrm>
            <a:off x="822960" y="2148840"/>
            <a:ext cx="10241280" cy="18288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Finance and Operations get six previously-manual questions answered reliably, backed by a warehouse that threads historical employee context through every transaction. The event stream produces five analytics tables on every run, with a proven real-time path ready for what's next. The pipeline moved from "someone runs it manually" to scheduled, gated, containerised — reviewable by Compliance, deployable by DevOps.</a:t>
            </a:r>
          </a:p>
        </p:txBody>
      </p:sp>
      <p:sp>
        <p:nvSpPr>
          <p:cNvPr id="5" name="Rounded Rectangle 4"/>
          <p:cNvSpPr/>
          <p:nvPr/>
        </p:nvSpPr>
        <p:spPr>
          <a:xfrm>
            <a:off x="822960" y="4297680"/>
            <a:ext cx="10241280" cy="1280160"/>
          </a:xfrm>
          <a:prstGeom prst="roundRect">
            <a:avLst>
              <a:gd name="adj" fmla="val 8000"/>
            </a:avLst>
          </a:prstGeom>
          <a:solidFill>
            <a:srgbClr val="222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201168" rIns="256032"/>
          <a:lstStyle/>
          <a:p>
            <a:pPr algn="l"/>
            <a:r>
              <a:rPr sz="1400" b="1" i="0">
                <a:solidFill>
                  <a:srgbClr val="E3A94F"/>
                </a:solidFill>
                <a:latin typeface="Calibri"/>
              </a:rPr>
              <a:t>More than any single number: </a:t>
            </a:r>
            <a:r>
              <a:rPr sz="1400" b="0" i="1">
                <a:solidFill>
                  <a:srgbClr val="E8E9F0"/>
                </a:solidFill>
                <a:latin typeface="Calibri"/>
              </a:rPr>
              <a:t>every claim in this deck is something I watched happen against real data, not something I assumed would work because the code looked right.</a:t>
            </a:r>
          </a:p>
        </p:txBody>
      </p:sp>
      <p:sp>
        <p:nvSpPr>
          <p:cNvPr id="6" name="TextBox 5"/>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7" name="TextBox 6"/>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Rectangle 1"/>
          <p:cNvSpPr/>
          <p:nvPr/>
        </p:nvSpPr>
        <p:spPr>
          <a:xfrm>
            <a:off x="0" y="5989320"/>
            <a:ext cx="12191695" cy="73152"/>
          </a:xfrm>
          <a:prstGeom prst="rect">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9144000" cy="914400"/>
          </a:xfrm>
          <a:prstGeom prst="rect">
            <a:avLst/>
          </a:prstGeom>
          <a:noFill/>
        </p:spPr>
        <p:txBody>
          <a:bodyPr wrap="square" anchor="t" lIns="0" rIns="0" tIns="0" bIns="0">
            <a:spAutoFit/>
          </a:bodyPr>
          <a:lstStyle/>
          <a:p>
            <a:pPr algn="l">
              <a:spcBef>
                <a:spcPts val="0"/>
              </a:spcBef>
              <a:spcAft>
                <a:spcPts val="600"/>
              </a:spcAft>
            </a:pPr>
            <a:r>
              <a:rPr sz="4200" b="1" i="0">
                <a:solidFill>
                  <a:srgbClr val="FFFFFF"/>
                </a:solidFill>
                <a:latin typeface="Georgia"/>
              </a:rPr>
              <a:t>Questions</a:t>
            </a:r>
          </a:p>
        </p:txBody>
      </p:sp>
      <p:sp>
        <p:nvSpPr>
          <p:cNvPr id="4" name="TextBox 3"/>
          <p:cNvSpPr txBox="1"/>
          <p:nvPr/>
        </p:nvSpPr>
        <p:spPr>
          <a:xfrm>
            <a:off x="822960" y="3611880"/>
            <a:ext cx="8229600" cy="457200"/>
          </a:xfrm>
          <a:prstGeom prst="rect">
            <a:avLst/>
          </a:prstGeom>
          <a:noFill/>
        </p:spPr>
        <p:txBody>
          <a:bodyPr wrap="square" anchor="t" lIns="0" rIns="0" tIns="0" bIns="0">
            <a:spAutoFit/>
          </a:bodyPr>
          <a:lstStyle/>
          <a:p>
            <a:pPr algn="l">
              <a:spcBef>
                <a:spcPts val="0"/>
              </a:spcBef>
              <a:spcAft>
                <a:spcPts val="600"/>
              </a:spcAft>
            </a:pPr>
            <a:r>
              <a:rPr sz="1350" b="0" i="0">
                <a:solidFill>
                  <a:srgbClr val="C7CAD8"/>
                </a:solidFill>
                <a:latin typeface="Consolas"/>
              </a:rPr>
              <a:t>Full source: solutions/submissions/baiju_mohan/</a:t>
            </a:r>
          </a:p>
        </p:txBody>
      </p:sp>
      <p:sp>
        <p:nvSpPr>
          <p:cNvPr id="5" name="TextBox 4"/>
          <p:cNvSpPr txBox="1"/>
          <p:nvPr/>
        </p:nvSpPr>
        <p:spPr>
          <a:xfrm>
            <a:off x="822960" y="3977639"/>
            <a:ext cx="8229600" cy="457200"/>
          </a:xfrm>
          <a:prstGeom prst="rect">
            <a:avLst/>
          </a:prstGeom>
          <a:noFill/>
        </p:spPr>
        <p:txBody>
          <a:bodyPr wrap="square" anchor="t" lIns="0" rIns="0" tIns="0" bIns="0">
            <a:spAutoFit/>
          </a:bodyPr>
          <a:lstStyle/>
          <a:p>
            <a:pPr algn="l">
              <a:spcBef>
                <a:spcPts val="0"/>
              </a:spcBef>
              <a:spcAft>
                <a:spcPts val="600"/>
              </a:spcAft>
            </a:pPr>
            <a:r>
              <a:rPr sz="1200" b="0" i="0">
                <a:solidFill>
                  <a:srgbClr val="9A9FB2"/>
                </a:solidFill>
                <a:latin typeface="Consolas"/>
              </a:rPr>
              <a:t>Master narrative: SUBMISSION_NOTES.md   ·   Run guide: HOW_TO_RUN.md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